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56" r:id="rId5"/>
    <p:sldId id="262" r:id="rId6"/>
    <p:sldId id="266" r:id="rId7"/>
    <p:sldId id="257" r:id="rId8"/>
    <p:sldId id="267" r:id="rId9"/>
    <p:sldId id="268" r:id="rId10"/>
    <p:sldId id="269" r:id="rId11"/>
    <p:sldId id="271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1" r:id="rId20"/>
    <p:sldId id="288" r:id="rId21"/>
    <p:sldId id="289" r:id="rId33"/>
    <p:sldId id="290" r:id="rId34"/>
    <p:sldId id="291" r:id="rId35"/>
    <p:sldId id="283" r:id="rId22"/>
    <p:sldId id="284" r:id="rId23"/>
    <p:sldId id="286" r:id="rId24"/>
    <p:sldId id="26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B3411-CC2A-4460-B421-30F424536C49}" v="103" dt="2020-08-10T13:06:01.5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36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424" y="48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  <Relationship Id="rId33" Type="http://schemas.openxmlformats.org/officeDocument/2006/relationships/slide" Target="slides/slide22.xml"/>
  <Relationship Id="rId34" Type="http://schemas.openxmlformats.org/officeDocument/2006/relationships/slide" Target="slides/slide23.xml"/>
  <Relationship Id="rId35" Type="http://schemas.openxmlformats.org/officeDocument/2006/relationships/slide" Target="slides/slide24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Stora och små bokstäver har betydelse och är olika variabler.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Använd meningsfulla namn på variablerna: inte x och y utan </a:t>
            </a:r>
            <a:r>
              <a:rPr lang="sv-SE" dirty="0" err="1"/>
              <a:t>name</a:t>
            </a:r>
            <a:r>
              <a:rPr lang="sv-SE" dirty="0"/>
              <a:t>, </a:t>
            </a:r>
            <a:r>
              <a:rPr lang="sv-SE" dirty="0" err="1"/>
              <a:t>user</a:t>
            </a:r>
            <a:r>
              <a:rPr lang="sv-SE" dirty="0"/>
              <a:t> osv.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118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Stora och små bokstäver har betydelse och är olika variabler.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Använd meningsfulla namn på variablerna: inte x och y utan </a:t>
            </a:r>
            <a:r>
              <a:rPr lang="sv-SE" dirty="0" err="1"/>
              <a:t>name</a:t>
            </a:r>
            <a:r>
              <a:rPr lang="sv-SE" dirty="0"/>
              <a:t>, </a:t>
            </a:r>
            <a:r>
              <a:rPr lang="sv-SE" dirty="0" err="1"/>
              <a:t>user</a:t>
            </a:r>
            <a:r>
              <a:rPr lang="sv-SE" dirty="0"/>
              <a:t> osv.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2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Stora och små bokstäver har betydelse och är olika variabler.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Använd meningsfulla namn på variablerna: inte x och y utan </a:t>
            </a:r>
            <a:r>
              <a:rPr lang="sv-SE" dirty="0" err="1"/>
              <a:t>name</a:t>
            </a:r>
            <a:r>
              <a:rPr lang="sv-SE" dirty="0"/>
              <a:t>, </a:t>
            </a:r>
            <a:r>
              <a:rPr lang="sv-SE" dirty="0" err="1"/>
              <a:t>user</a:t>
            </a:r>
            <a:r>
              <a:rPr lang="sv-SE" dirty="0"/>
              <a:t> osv.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103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Stora och små bokstäver har betydelse och är olika variabler.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Använd meningsfulla namn på variablerna: inte x och y utan </a:t>
            </a:r>
            <a:r>
              <a:rPr lang="sv-SE" dirty="0" err="1"/>
              <a:t>name</a:t>
            </a:r>
            <a:r>
              <a:rPr lang="sv-SE" dirty="0"/>
              <a:t>, </a:t>
            </a:r>
            <a:r>
              <a:rPr lang="sv-SE" dirty="0" err="1"/>
              <a:t>user</a:t>
            </a:r>
            <a:r>
              <a:rPr lang="sv-SE" dirty="0"/>
              <a:t> osv.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313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467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22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351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761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214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303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788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56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369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0C2E3-DBC8-6D4F-6554-3403A549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4766B-FE06-CB27-D79B-D99B694CB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4F9C1-3443-0A79-CF48-85E0FCBF0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58889-08B5-5EC8-60EC-05350392A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054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268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377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158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8863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83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1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59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88DD-3717-47D0-B979-D111D81B4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/>
          <a:lstStyle/>
          <a:p>
            <a:r>
              <a:rPr lang="en-US" dirty="0">
                <a:latin typeface="Bodoni MT" panose="02070603080606020203" pitchFamily="18" charset="0"/>
              </a:rPr>
              <a:t>C++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EDFBFC-5564-4D5D-8F01-C829B7B40C08}"/>
              </a:ext>
            </a:extLst>
          </p:cNvPr>
          <p:cNvSpPr txBox="1"/>
          <p:nvPr/>
        </p:nvSpPr>
        <p:spPr>
          <a:xfrm>
            <a:off x="1983828" y="6043352"/>
            <a:ext cx="8224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Programmering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– Jeton Mustini</a:t>
            </a:r>
          </a:p>
        </p:txBody>
      </p:sp>
    </p:spTree>
    <p:extLst>
      <p:ext uri="{BB962C8B-B14F-4D97-AF65-F5344CB8AC3E}">
        <p14:creationId xmlns:p14="http://schemas.microsoft.com/office/powerpoint/2010/main" val="1957017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06F0F283-C8B6-4598-89C9-C404C98A5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E473B0C0-761B-443F-97A0-9D6E01FBB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1" y="-2"/>
            <a:ext cx="6300250" cy="6858002"/>
          </a:xfrm>
          <a:custGeom>
            <a:avLst/>
            <a:gdLst>
              <a:gd name="connsiteX0" fmla="*/ 0 w 6300250"/>
              <a:gd name="connsiteY0" fmla="*/ 0 h 6858002"/>
              <a:gd name="connsiteX1" fmla="*/ 3149600 w 6300250"/>
              <a:gd name="connsiteY1" fmla="*/ 0 h 6858002"/>
              <a:gd name="connsiteX2" fmla="*/ 3149600 w 6300250"/>
              <a:gd name="connsiteY2" fmla="*/ 2 h 6858002"/>
              <a:gd name="connsiteX3" fmla="*/ 6110455 w 6300250"/>
              <a:gd name="connsiteY3" fmla="*/ 2 h 6858002"/>
              <a:gd name="connsiteX4" fmla="*/ 6115495 w 6300250"/>
              <a:gd name="connsiteY4" fmla="*/ 66677 h 6858002"/>
              <a:gd name="connsiteX5" fmla="*/ 6123892 w 6300250"/>
              <a:gd name="connsiteY5" fmla="*/ 122239 h 6858002"/>
              <a:gd name="connsiteX6" fmla="*/ 6133970 w 6300250"/>
              <a:gd name="connsiteY6" fmla="*/ 174627 h 6858002"/>
              <a:gd name="connsiteX7" fmla="*/ 6150766 w 6300250"/>
              <a:gd name="connsiteY7" fmla="*/ 217489 h 6858002"/>
              <a:gd name="connsiteX8" fmla="*/ 6167562 w 6300250"/>
              <a:gd name="connsiteY8" fmla="*/ 260352 h 6858002"/>
              <a:gd name="connsiteX9" fmla="*/ 6187717 w 6300250"/>
              <a:gd name="connsiteY9" fmla="*/ 296864 h 6858002"/>
              <a:gd name="connsiteX10" fmla="*/ 6207872 w 6300250"/>
              <a:gd name="connsiteY10" fmla="*/ 334964 h 6858002"/>
              <a:gd name="connsiteX11" fmla="*/ 6226348 w 6300250"/>
              <a:gd name="connsiteY11" fmla="*/ 369889 h 6858002"/>
              <a:gd name="connsiteX12" fmla="*/ 6244823 w 6300250"/>
              <a:gd name="connsiteY12" fmla="*/ 409577 h 6858002"/>
              <a:gd name="connsiteX13" fmla="*/ 6261619 w 6300250"/>
              <a:gd name="connsiteY13" fmla="*/ 450852 h 6858002"/>
              <a:gd name="connsiteX14" fmla="*/ 6276736 w 6300250"/>
              <a:gd name="connsiteY14" fmla="*/ 496889 h 6858002"/>
              <a:gd name="connsiteX15" fmla="*/ 6288493 w 6300250"/>
              <a:gd name="connsiteY15" fmla="*/ 546102 h 6858002"/>
              <a:gd name="connsiteX16" fmla="*/ 6296891 w 6300250"/>
              <a:gd name="connsiteY16" fmla="*/ 606427 h 6858002"/>
              <a:gd name="connsiteX17" fmla="*/ 6300250 w 6300250"/>
              <a:gd name="connsiteY17" fmla="*/ 673102 h 6858002"/>
              <a:gd name="connsiteX18" fmla="*/ 6296891 w 6300250"/>
              <a:gd name="connsiteY18" fmla="*/ 744539 h 6858002"/>
              <a:gd name="connsiteX19" fmla="*/ 6288493 w 6300250"/>
              <a:gd name="connsiteY19" fmla="*/ 801689 h 6858002"/>
              <a:gd name="connsiteX20" fmla="*/ 6276736 w 6300250"/>
              <a:gd name="connsiteY20" fmla="*/ 854077 h 6858002"/>
              <a:gd name="connsiteX21" fmla="*/ 6261619 w 6300250"/>
              <a:gd name="connsiteY21" fmla="*/ 901702 h 6858002"/>
              <a:gd name="connsiteX22" fmla="*/ 6244823 w 6300250"/>
              <a:gd name="connsiteY22" fmla="*/ 942977 h 6858002"/>
              <a:gd name="connsiteX23" fmla="*/ 6224668 w 6300250"/>
              <a:gd name="connsiteY23" fmla="*/ 981077 h 6858002"/>
              <a:gd name="connsiteX24" fmla="*/ 6204513 w 6300250"/>
              <a:gd name="connsiteY24" fmla="*/ 1017589 h 6858002"/>
              <a:gd name="connsiteX25" fmla="*/ 6184358 w 6300250"/>
              <a:gd name="connsiteY25" fmla="*/ 1055689 h 6858002"/>
              <a:gd name="connsiteX26" fmla="*/ 6165882 w 6300250"/>
              <a:gd name="connsiteY26" fmla="*/ 1095377 h 6858002"/>
              <a:gd name="connsiteX27" fmla="*/ 6147406 w 6300250"/>
              <a:gd name="connsiteY27" fmla="*/ 1136652 h 6858002"/>
              <a:gd name="connsiteX28" fmla="*/ 6132291 w 6300250"/>
              <a:gd name="connsiteY28" fmla="*/ 1182689 h 6858002"/>
              <a:gd name="connsiteX29" fmla="*/ 6122213 w 6300250"/>
              <a:gd name="connsiteY29" fmla="*/ 1235077 h 6858002"/>
              <a:gd name="connsiteX30" fmla="*/ 6112135 w 6300250"/>
              <a:gd name="connsiteY30" fmla="*/ 1295402 h 6858002"/>
              <a:gd name="connsiteX31" fmla="*/ 6110455 w 6300250"/>
              <a:gd name="connsiteY31" fmla="*/ 1363664 h 6858002"/>
              <a:gd name="connsiteX32" fmla="*/ 6112135 w 6300250"/>
              <a:gd name="connsiteY32" fmla="*/ 1431927 h 6858002"/>
              <a:gd name="connsiteX33" fmla="*/ 6122213 w 6300250"/>
              <a:gd name="connsiteY33" fmla="*/ 1492252 h 6858002"/>
              <a:gd name="connsiteX34" fmla="*/ 6132291 w 6300250"/>
              <a:gd name="connsiteY34" fmla="*/ 1544639 h 6858002"/>
              <a:gd name="connsiteX35" fmla="*/ 6147406 w 6300250"/>
              <a:gd name="connsiteY35" fmla="*/ 1589089 h 6858002"/>
              <a:gd name="connsiteX36" fmla="*/ 6165882 w 6300250"/>
              <a:gd name="connsiteY36" fmla="*/ 1631952 h 6858002"/>
              <a:gd name="connsiteX37" fmla="*/ 6184358 w 6300250"/>
              <a:gd name="connsiteY37" fmla="*/ 1671639 h 6858002"/>
              <a:gd name="connsiteX38" fmla="*/ 6204513 w 6300250"/>
              <a:gd name="connsiteY38" fmla="*/ 1708152 h 6858002"/>
              <a:gd name="connsiteX39" fmla="*/ 6224668 w 6300250"/>
              <a:gd name="connsiteY39" fmla="*/ 1743077 h 6858002"/>
              <a:gd name="connsiteX40" fmla="*/ 6244823 w 6300250"/>
              <a:gd name="connsiteY40" fmla="*/ 1782764 h 6858002"/>
              <a:gd name="connsiteX41" fmla="*/ 6261619 w 6300250"/>
              <a:gd name="connsiteY41" fmla="*/ 1824039 h 6858002"/>
              <a:gd name="connsiteX42" fmla="*/ 6276736 w 6300250"/>
              <a:gd name="connsiteY42" fmla="*/ 1870077 h 6858002"/>
              <a:gd name="connsiteX43" fmla="*/ 6288493 w 6300250"/>
              <a:gd name="connsiteY43" fmla="*/ 1922464 h 6858002"/>
              <a:gd name="connsiteX44" fmla="*/ 6296891 w 6300250"/>
              <a:gd name="connsiteY44" fmla="*/ 1982789 h 6858002"/>
              <a:gd name="connsiteX45" fmla="*/ 6300250 w 6300250"/>
              <a:gd name="connsiteY45" fmla="*/ 2051052 h 6858002"/>
              <a:gd name="connsiteX46" fmla="*/ 6296891 w 6300250"/>
              <a:gd name="connsiteY46" fmla="*/ 2119314 h 6858002"/>
              <a:gd name="connsiteX47" fmla="*/ 6288493 w 6300250"/>
              <a:gd name="connsiteY47" fmla="*/ 2179639 h 6858002"/>
              <a:gd name="connsiteX48" fmla="*/ 6276736 w 6300250"/>
              <a:gd name="connsiteY48" fmla="*/ 2232027 h 6858002"/>
              <a:gd name="connsiteX49" fmla="*/ 6261619 w 6300250"/>
              <a:gd name="connsiteY49" fmla="*/ 2278064 h 6858002"/>
              <a:gd name="connsiteX50" fmla="*/ 6244823 w 6300250"/>
              <a:gd name="connsiteY50" fmla="*/ 2319339 h 6858002"/>
              <a:gd name="connsiteX51" fmla="*/ 6224668 w 6300250"/>
              <a:gd name="connsiteY51" fmla="*/ 2359027 h 6858002"/>
              <a:gd name="connsiteX52" fmla="*/ 6204513 w 6300250"/>
              <a:gd name="connsiteY52" fmla="*/ 2395539 h 6858002"/>
              <a:gd name="connsiteX53" fmla="*/ 6184358 w 6300250"/>
              <a:gd name="connsiteY53" fmla="*/ 2433639 h 6858002"/>
              <a:gd name="connsiteX54" fmla="*/ 6165882 w 6300250"/>
              <a:gd name="connsiteY54" fmla="*/ 2471739 h 6858002"/>
              <a:gd name="connsiteX55" fmla="*/ 6147406 w 6300250"/>
              <a:gd name="connsiteY55" fmla="*/ 2513014 h 6858002"/>
              <a:gd name="connsiteX56" fmla="*/ 6132291 w 6300250"/>
              <a:gd name="connsiteY56" fmla="*/ 2560639 h 6858002"/>
              <a:gd name="connsiteX57" fmla="*/ 6122213 w 6300250"/>
              <a:gd name="connsiteY57" fmla="*/ 2613027 h 6858002"/>
              <a:gd name="connsiteX58" fmla="*/ 6112135 w 6300250"/>
              <a:gd name="connsiteY58" fmla="*/ 2671764 h 6858002"/>
              <a:gd name="connsiteX59" fmla="*/ 6110455 w 6300250"/>
              <a:gd name="connsiteY59" fmla="*/ 2741614 h 6858002"/>
              <a:gd name="connsiteX60" fmla="*/ 6112135 w 6300250"/>
              <a:gd name="connsiteY60" fmla="*/ 2809877 h 6858002"/>
              <a:gd name="connsiteX61" fmla="*/ 6122213 w 6300250"/>
              <a:gd name="connsiteY61" fmla="*/ 2868614 h 6858002"/>
              <a:gd name="connsiteX62" fmla="*/ 6132291 w 6300250"/>
              <a:gd name="connsiteY62" fmla="*/ 2922589 h 6858002"/>
              <a:gd name="connsiteX63" fmla="*/ 6147406 w 6300250"/>
              <a:gd name="connsiteY63" fmla="*/ 2967039 h 6858002"/>
              <a:gd name="connsiteX64" fmla="*/ 6165882 w 6300250"/>
              <a:gd name="connsiteY64" fmla="*/ 3009902 h 6858002"/>
              <a:gd name="connsiteX65" fmla="*/ 6184358 w 6300250"/>
              <a:gd name="connsiteY65" fmla="*/ 3046414 h 6858002"/>
              <a:gd name="connsiteX66" fmla="*/ 6204513 w 6300250"/>
              <a:gd name="connsiteY66" fmla="*/ 3084514 h 6858002"/>
              <a:gd name="connsiteX67" fmla="*/ 6224668 w 6300250"/>
              <a:gd name="connsiteY67" fmla="*/ 3121027 h 6858002"/>
              <a:gd name="connsiteX68" fmla="*/ 6244823 w 6300250"/>
              <a:gd name="connsiteY68" fmla="*/ 3160714 h 6858002"/>
              <a:gd name="connsiteX69" fmla="*/ 6261619 w 6300250"/>
              <a:gd name="connsiteY69" fmla="*/ 3201989 h 6858002"/>
              <a:gd name="connsiteX70" fmla="*/ 6276736 w 6300250"/>
              <a:gd name="connsiteY70" fmla="*/ 3248027 h 6858002"/>
              <a:gd name="connsiteX71" fmla="*/ 6288493 w 6300250"/>
              <a:gd name="connsiteY71" fmla="*/ 3300414 h 6858002"/>
              <a:gd name="connsiteX72" fmla="*/ 6296891 w 6300250"/>
              <a:gd name="connsiteY72" fmla="*/ 3360739 h 6858002"/>
              <a:gd name="connsiteX73" fmla="*/ 6300250 w 6300250"/>
              <a:gd name="connsiteY73" fmla="*/ 3427414 h 6858002"/>
              <a:gd name="connsiteX74" fmla="*/ 6296891 w 6300250"/>
              <a:gd name="connsiteY74" fmla="*/ 3497264 h 6858002"/>
              <a:gd name="connsiteX75" fmla="*/ 6288493 w 6300250"/>
              <a:gd name="connsiteY75" fmla="*/ 3557589 h 6858002"/>
              <a:gd name="connsiteX76" fmla="*/ 6276736 w 6300250"/>
              <a:gd name="connsiteY76" fmla="*/ 3609977 h 6858002"/>
              <a:gd name="connsiteX77" fmla="*/ 6261619 w 6300250"/>
              <a:gd name="connsiteY77" fmla="*/ 3656014 h 6858002"/>
              <a:gd name="connsiteX78" fmla="*/ 6244823 w 6300250"/>
              <a:gd name="connsiteY78" fmla="*/ 3697289 h 6858002"/>
              <a:gd name="connsiteX79" fmla="*/ 6224668 w 6300250"/>
              <a:gd name="connsiteY79" fmla="*/ 3736977 h 6858002"/>
              <a:gd name="connsiteX80" fmla="*/ 6184358 w 6300250"/>
              <a:gd name="connsiteY80" fmla="*/ 3811589 h 6858002"/>
              <a:gd name="connsiteX81" fmla="*/ 6165882 w 6300250"/>
              <a:gd name="connsiteY81" fmla="*/ 3848102 h 6858002"/>
              <a:gd name="connsiteX82" fmla="*/ 6147406 w 6300250"/>
              <a:gd name="connsiteY82" fmla="*/ 3890964 h 6858002"/>
              <a:gd name="connsiteX83" fmla="*/ 6132291 w 6300250"/>
              <a:gd name="connsiteY83" fmla="*/ 3935414 h 6858002"/>
              <a:gd name="connsiteX84" fmla="*/ 6122213 w 6300250"/>
              <a:gd name="connsiteY84" fmla="*/ 3987802 h 6858002"/>
              <a:gd name="connsiteX85" fmla="*/ 6112135 w 6300250"/>
              <a:gd name="connsiteY85" fmla="*/ 4048127 h 6858002"/>
              <a:gd name="connsiteX86" fmla="*/ 6110455 w 6300250"/>
              <a:gd name="connsiteY86" fmla="*/ 4116389 h 6858002"/>
              <a:gd name="connsiteX87" fmla="*/ 6112135 w 6300250"/>
              <a:gd name="connsiteY87" fmla="*/ 4186239 h 6858002"/>
              <a:gd name="connsiteX88" fmla="*/ 6122213 w 6300250"/>
              <a:gd name="connsiteY88" fmla="*/ 4244977 h 6858002"/>
              <a:gd name="connsiteX89" fmla="*/ 6132291 w 6300250"/>
              <a:gd name="connsiteY89" fmla="*/ 4297364 h 6858002"/>
              <a:gd name="connsiteX90" fmla="*/ 6147406 w 6300250"/>
              <a:gd name="connsiteY90" fmla="*/ 4343402 h 6858002"/>
              <a:gd name="connsiteX91" fmla="*/ 6165882 w 6300250"/>
              <a:gd name="connsiteY91" fmla="*/ 4386264 h 6858002"/>
              <a:gd name="connsiteX92" fmla="*/ 6184358 w 6300250"/>
              <a:gd name="connsiteY92" fmla="*/ 4424364 h 6858002"/>
              <a:gd name="connsiteX93" fmla="*/ 6224668 w 6300250"/>
              <a:gd name="connsiteY93" fmla="*/ 4498977 h 6858002"/>
              <a:gd name="connsiteX94" fmla="*/ 6244823 w 6300250"/>
              <a:gd name="connsiteY94" fmla="*/ 4537077 h 6858002"/>
              <a:gd name="connsiteX95" fmla="*/ 6261619 w 6300250"/>
              <a:gd name="connsiteY95" fmla="*/ 4579939 h 6858002"/>
              <a:gd name="connsiteX96" fmla="*/ 6276736 w 6300250"/>
              <a:gd name="connsiteY96" fmla="*/ 4625977 h 6858002"/>
              <a:gd name="connsiteX97" fmla="*/ 6288493 w 6300250"/>
              <a:gd name="connsiteY97" fmla="*/ 4678364 h 6858002"/>
              <a:gd name="connsiteX98" fmla="*/ 6296891 w 6300250"/>
              <a:gd name="connsiteY98" fmla="*/ 4738689 h 6858002"/>
              <a:gd name="connsiteX99" fmla="*/ 6300250 w 6300250"/>
              <a:gd name="connsiteY99" fmla="*/ 4806952 h 6858002"/>
              <a:gd name="connsiteX100" fmla="*/ 6296891 w 6300250"/>
              <a:gd name="connsiteY100" fmla="*/ 4875214 h 6858002"/>
              <a:gd name="connsiteX101" fmla="*/ 6288493 w 6300250"/>
              <a:gd name="connsiteY101" fmla="*/ 4935539 h 6858002"/>
              <a:gd name="connsiteX102" fmla="*/ 6276736 w 6300250"/>
              <a:gd name="connsiteY102" fmla="*/ 4987927 h 6858002"/>
              <a:gd name="connsiteX103" fmla="*/ 6261619 w 6300250"/>
              <a:gd name="connsiteY103" fmla="*/ 5033964 h 6858002"/>
              <a:gd name="connsiteX104" fmla="*/ 6244823 w 6300250"/>
              <a:gd name="connsiteY104" fmla="*/ 5075239 h 6858002"/>
              <a:gd name="connsiteX105" fmla="*/ 6224668 w 6300250"/>
              <a:gd name="connsiteY105" fmla="*/ 5114927 h 6858002"/>
              <a:gd name="connsiteX106" fmla="*/ 6204513 w 6300250"/>
              <a:gd name="connsiteY106" fmla="*/ 5149852 h 6858002"/>
              <a:gd name="connsiteX107" fmla="*/ 6184358 w 6300250"/>
              <a:gd name="connsiteY107" fmla="*/ 5186364 h 6858002"/>
              <a:gd name="connsiteX108" fmla="*/ 6165882 w 6300250"/>
              <a:gd name="connsiteY108" fmla="*/ 5226052 h 6858002"/>
              <a:gd name="connsiteX109" fmla="*/ 6147406 w 6300250"/>
              <a:gd name="connsiteY109" fmla="*/ 5268914 h 6858002"/>
              <a:gd name="connsiteX110" fmla="*/ 6132291 w 6300250"/>
              <a:gd name="connsiteY110" fmla="*/ 5313364 h 6858002"/>
              <a:gd name="connsiteX111" fmla="*/ 6122213 w 6300250"/>
              <a:gd name="connsiteY111" fmla="*/ 5365752 h 6858002"/>
              <a:gd name="connsiteX112" fmla="*/ 6112135 w 6300250"/>
              <a:gd name="connsiteY112" fmla="*/ 5426077 h 6858002"/>
              <a:gd name="connsiteX113" fmla="*/ 6110455 w 6300250"/>
              <a:gd name="connsiteY113" fmla="*/ 5494339 h 6858002"/>
              <a:gd name="connsiteX114" fmla="*/ 6112135 w 6300250"/>
              <a:gd name="connsiteY114" fmla="*/ 5562602 h 6858002"/>
              <a:gd name="connsiteX115" fmla="*/ 6122213 w 6300250"/>
              <a:gd name="connsiteY115" fmla="*/ 5622927 h 6858002"/>
              <a:gd name="connsiteX116" fmla="*/ 6132291 w 6300250"/>
              <a:gd name="connsiteY116" fmla="*/ 5675314 h 6858002"/>
              <a:gd name="connsiteX117" fmla="*/ 6147406 w 6300250"/>
              <a:gd name="connsiteY117" fmla="*/ 5721352 h 6858002"/>
              <a:gd name="connsiteX118" fmla="*/ 6165882 w 6300250"/>
              <a:gd name="connsiteY118" fmla="*/ 5762627 h 6858002"/>
              <a:gd name="connsiteX119" fmla="*/ 6184358 w 6300250"/>
              <a:gd name="connsiteY119" fmla="*/ 5802314 h 6858002"/>
              <a:gd name="connsiteX120" fmla="*/ 6204513 w 6300250"/>
              <a:gd name="connsiteY120" fmla="*/ 5840414 h 6858002"/>
              <a:gd name="connsiteX121" fmla="*/ 6224668 w 6300250"/>
              <a:gd name="connsiteY121" fmla="*/ 5876927 h 6858002"/>
              <a:gd name="connsiteX122" fmla="*/ 6244823 w 6300250"/>
              <a:gd name="connsiteY122" fmla="*/ 5915027 h 6858002"/>
              <a:gd name="connsiteX123" fmla="*/ 6261619 w 6300250"/>
              <a:gd name="connsiteY123" fmla="*/ 5956302 h 6858002"/>
              <a:gd name="connsiteX124" fmla="*/ 6276736 w 6300250"/>
              <a:gd name="connsiteY124" fmla="*/ 6003927 h 6858002"/>
              <a:gd name="connsiteX125" fmla="*/ 6288493 w 6300250"/>
              <a:gd name="connsiteY125" fmla="*/ 6056314 h 6858002"/>
              <a:gd name="connsiteX126" fmla="*/ 6296891 w 6300250"/>
              <a:gd name="connsiteY126" fmla="*/ 6113464 h 6858002"/>
              <a:gd name="connsiteX127" fmla="*/ 6300250 w 6300250"/>
              <a:gd name="connsiteY127" fmla="*/ 6183314 h 6858002"/>
              <a:gd name="connsiteX128" fmla="*/ 6296891 w 6300250"/>
              <a:gd name="connsiteY128" fmla="*/ 6251577 h 6858002"/>
              <a:gd name="connsiteX129" fmla="*/ 6288493 w 6300250"/>
              <a:gd name="connsiteY129" fmla="*/ 6311902 h 6858002"/>
              <a:gd name="connsiteX130" fmla="*/ 6276736 w 6300250"/>
              <a:gd name="connsiteY130" fmla="*/ 6361114 h 6858002"/>
              <a:gd name="connsiteX131" fmla="*/ 6261619 w 6300250"/>
              <a:gd name="connsiteY131" fmla="*/ 6407152 h 6858002"/>
              <a:gd name="connsiteX132" fmla="*/ 6244823 w 6300250"/>
              <a:gd name="connsiteY132" fmla="*/ 6448427 h 6858002"/>
              <a:gd name="connsiteX133" fmla="*/ 6226348 w 6300250"/>
              <a:gd name="connsiteY133" fmla="*/ 6488114 h 6858002"/>
              <a:gd name="connsiteX134" fmla="*/ 6207872 w 6300250"/>
              <a:gd name="connsiteY134" fmla="*/ 6523039 h 6858002"/>
              <a:gd name="connsiteX135" fmla="*/ 6187717 w 6300250"/>
              <a:gd name="connsiteY135" fmla="*/ 6561139 h 6858002"/>
              <a:gd name="connsiteX136" fmla="*/ 6167562 w 6300250"/>
              <a:gd name="connsiteY136" fmla="*/ 6597652 h 6858002"/>
              <a:gd name="connsiteX137" fmla="*/ 6150766 w 6300250"/>
              <a:gd name="connsiteY137" fmla="*/ 6640514 h 6858002"/>
              <a:gd name="connsiteX138" fmla="*/ 6133970 w 6300250"/>
              <a:gd name="connsiteY138" fmla="*/ 6683377 h 6858002"/>
              <a:gd name="connsiteX139" fmla="*/ 6123892 w 6300250"/>
              <a:gd name="connsiteY139" fmla="*/ 6735764 h 6858002"/>
              <a:gd name="connsiteX140" fmla="*/ 6115495 w 6300250"/>
              <a:gd name="connsiteY140" fmla="*/ 6791327 h 6858002"/>
              <a:gd name="connsiteX141" fmla="*/ 6110455 w 6300250"/>
              <a:gd name="connsiteY141" fmla="*/ 6858002 h 6858002"/>
              <a:gd name="connsiteX142" fmla="*/ 3149600 w 6300250"/>
              <a:gd name="connsiteY142" fmla="*/ 6858002 h 6858002"/>
              <a:gd name="connsiteX143" fmla="*/ 2707087 w 6300250"/>
              <a:gd name="connsiteY143" fmla="*/ 6858002 h 6858002"/>
              <a:gd name="connsiteX144" fmla="*/ 0 w 6300250"/>
              <a:gd name="connsiteY144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6300250" h="6858002">
                <a:moveTo>
                  <a:pt x="0" y="0"/>
                </a:moveTo>
                <a:lnTo>
                  <a:pt x="3149600" y="0"/>
                </a:lnTo>
                <a:lnTo>
                  <a:pt x="3149600" y="2"/>
                </a:lnTo>
                <a:lnTo>
                  <a:pt x="6110455" y="2"/>
                </a:lnTo>
                <a:lnTo>
                  <a:pt x="6115495" y="66677"/>
                </a:lnTo>
                <a:lnTo>
                  <a:pt x="6123892" y="122239"/>
                </a:lnTo>
                <a:lnTo>
                  <a:pt x="6133970" y="174627"/>
                </a:lnTo>
                <a:lnTo>
                  <a:pt x="6150766" y="217489"/>
                </a:lnTo>
                <a:lnTo>
                  <a:pt x="6167562" y="260352"/>
                </a:lnTo>
                <a:lnTo>
                  <a:pt x="6187717" y="296864"/>
                </a:lnTo>
                <a:lnTo>
                  <a:pt x="6207872" y="334964"/>
                </a:lnTo>
                <a:lnTo>
                  <a:pt x="6226348" y="369889"/>
                </a:lnTo>
                <a:lnTo>
                  <a:pt x="6244823" y="409577"/>
                </a:lnTo>
                <a:lnTo>
                  <a:pt x="6261619" y="450852"/>
                </a:lnTo>
                <a:lnTo>
                  <a:pt x="6276736" y="496889"/>
                </a:lnTo>
                <a:lnTo>
                  <a:pt x="6288493" y="546102"/>
                </a:lnTo>
                <a:lnTo>
                  <a:pt x="6296891" y="606427"/>
                </a:lnTo>
                <a:lnTo>
                  <a:pt x="6300250" y="673102"/>
                </a:lnTo>
                <a:lnTo>
                  <a:pt x="6296891" y="744539"/>
                </a:lnTo>
                <a:lnTo>
                  <a:pt x="6288493" y="801689"/>
                </a:lnTo>
                <a:lnTo>
                  <a:pt x="6276736" y="854077"/>
                </a:lnTo>
                <a:lnTo>
                  <a:pt x="6261619" y="901702"/>
                </a:lnTo>
                <a:lnTo>
                  <a:pt x="6244823" y="942977"/>
                </a:lnTo>
                <a:lnTo>
                  <a:pt x="6224668" y="981077"/>
                </a:lnTo>
                <a:lnTo>
                  <a:pt x="6204513" y="1017589"/>
                </a:lnTo>
                <a:lnTo>
                  <a:pt x="6184358" y="1055689"/>
                </a:lnTo>
                <a:lnTo>
                  <a:pt x="6165882" y="1095377"/>
                </a:lnTo>
                <a:lnTo>
                  <a:pt x="6147406" y="1136652"/>
                </a:lnTo>
                <a:lnTo>
                  <a:pt x="6132291" y="1182689"/>
                </a:lnTo>
                <a:lnTo>
                  <a:pt x="6122213" y="1235077"/>
                </a:lnTo>
                <a:lnTo>
                  <a:pt x="6112135" y="1295402"/>
                </a:lnTo>
                <a:lnTo>
                  <a:pt x="6110455" y="1363664"/>
                </a:lnTo>
                <a:lnTo>
                  <a:pt x="6112135" y="1431927"/>
                </a:lnTo>
                <a:lnTo>
                  <a:pt x="6122213" y="1492252"/>
                </a:lnTo>
                <a:lnTo>
                  <a:pt x="6132291" y="1544639"/>
                </a:lnTo>
                <a:lnTo>
                  <a:pt x="6147406" y="1589089"/>
                </a:lnTo>
                <a:lnTo>
                  <a:pt x="6165882" y="1631952"/>
                </a:lnTo>
                <a:lnTo>
                  <a:pt x="6184358" y="1671639"/>
                </a:lnTo>
                <a:lnTo>
                  <a:pt x="6204513" y="1708152"/>
                </a:lnTo>
                <a:lnTo>
                  <a:pt x="6224668" y="1743077"/>
                </a:lnTo>
                <a:lnTo>
                  <a:pt x="6244823" y="1782764"/>
                </a:lnTo>
                <a:lnTo>
                  <a:pt x="6261619" y="1824039"/>
                </a:lnTo>
                <a:lnTo>
                  <a:pt x="6276736" y="1870077"/>
                </a:lnTo>
                <a:lnTo>
                  <a:pt x="6288493" y="1922464"/>
                </a:lnTo>
                <a:lnTo>
                  <a:pt x="6296891" y="1982789"/>
                </a:lnTo>
                <a:lnTo>
                  <a:pt x="6300250" y="2051052"/>
                </a:lnTo>
                <a:lnTo>
                  <a:pt x="6296891" y="2119314"/>
                </a:lnTo>
                <a:lnTo>
                  <a:pt x="6288493" y="2179639"/>
                </a:lnTo>
                <a:lnTo>
                  <a:pt x="6276736" y="2232027"/>
                </a:lnTo>
                <a:lnTo>
                  <a:pt x="6261619" y="2278064"/>
                </a:lnTo>
                <a:lnTo>
                  <a:pt x="6244823" y="2319339"/>
                </a:lnTo>
                <a:lnTo>
                  <a:pt x="6224668" y="2359027"/>
                </a:lnTo>
                <a:lnTo>
                  <a:pt x="6204513" y="2395539"/>
                </a:lnTo>
                <a:lnTo>
                  <a:pt x="6184358" y="2433639"/>
                </a:lnTo>
                <a:lnTo>
                  <a:pt x="6165882" y="2471739"/>
                </a:lnTo>
                <a:lnTo>
                  <a:pt x="6147406" y="2513014"/>
                </a:lnTo>
                <a:lnTo>
                  <a:pt x="6132291" y="2560639"/>
                </a:lnTo>
                <a:lnTo>
                  <a:pt x="6122213" y="2613027"/>
                </a:lnTo>
                <a:lnTo>
                  <a:pt x="6112135" y="2671764"/>
                </a:lnTo>
                <a:lnTo>
                  <a:pt x="6110455" y="2741614"/>
                </a:lnTo>
                <a:lnTo>
                  <a:pt x="6112135" y="2809877"/>
                </a:lnTo>
                <a:lnTo>
                  <a:pt x="6122213" y="2868614"/>
                </a:lnTo>
                <a:lnTo>
                  <a:pt x="6132291" y="2922589"/>
                </a:lnTo>
                <a:lnTo>
                  <a:pt x="6147406" y="2967039"/>
                </a:lnTo>
                <a:lnTo>
                  <a:pt x="6165882" y="3009902"/>
                </a:lnTo>
                <a:lnTo>
                  <a:pt x="6184358" y="3046414"/>
                </a:lnTo>
                <a:lnTo>
                  <a:pt x="6204513" y="3084514"/>
                </a:lnTo>
                <a:lnTo>
                  <a:pt x="6224668" y="3121027"/>
                </a:lnTo>
                <a:lnTo>
                  <a:pt x="6244823" y="3160714"/>
                </a:lnTo>
                <a:lnTo>
                  <a:pt x="6261619" y="3201989"/>
                </a:lnTo>
                <a:lnTo>
                  <a:pt x="6276736" y="3248027"/>
                </a:lnTo>
                <a:lnTo>
                  <a:pt x="6288493" y="3300414"/>
                </a:lnTo>
                <a:lnTo>
                  <a:pt x="6296891" y="3360739"/>
                </a:lnTo>
                <a:lnTo>
                  <a:pt x="6300250" y="3427414"/>
                </a:lnTo>
                <a:lnTo>
                  <a:pt x="6296891" y="3497264"/>
                </a:lnTo>
                <a:lnTo>
                  <a:pt x="6288493" y="3557589"/>
                </a:lnTo>
                <a:lnTo>
                  <a:pt x="6276736" y="3609977"/>
                </a:lnTo>
                <a:lnTo>
                  <a:pt x="6261619" y="3656014"/>
                </a:lnTo>
                <a:lnTo>
                  <a:pt x="6244823" y="3697289"/>
                </a:lnTo>
                <a:lnTo>
                  <a:pt x="6224668" y="3736977"/>
                </a:lnTo>
                <a:lnTo>
                  <a:pt x="6184358" y="3811589"/>
                </a:lnTo>
                <a:lnTo>
                  <a:pt x="6165882" y="3848102"/>
                </a:lnTo>
                <a:lnTo>
                  <a:pt x="6147406" y="3890964"/>
                </a:lnTo>
                <a:lnTo>
                  <a:pt x="6132291" y="3935414"/>
                </a:lnTo>
                <a:lnTo>
                  <a:pt x="6122213" y="3987802"/>
                </a:lnTo>
                <a:lnTo>
                  <a:pt x="6112135" y="4048127"/>
                </a:lnTo>
                <a:lnTo>
                  <a:pt x="6110455" y="4116389"/>
                </a:lnTo>
                <a:lnTo>
                  <a:pt x="6112135" y="4186239"/>
                </a:lnTo>
                <a:lnTo>
                  <a:pt x="6122213" y="4244977"/>
                </a:lnTo>
                <a:lnTo>
                  <a:pt x="6132291" y="4297364"/>
                </a:lnTo>
                <a:lnTo>
                  <a:pt x="6147406" y="4343402"/>
                </a:lnTo>
                <a:lnTo>
                  <a:pt x="6165882" y="4386264"/>
                </a:lnTo>
                <a:lnTo>
                  <a:pt x="6184358" y="4424364"/>
                </a:lnTo>
                <a:lnTo>
                  <a:pt x="6224668" y="4498977"/>
                </a:lnTo>
                <a:lnTo>
                  <a:pt x="6244823" y="4537077"/>
                </a:lnTo>
                <a:lnTo>
                  <a:pt x="6261619" y="4579939"/>
                </a:lnTo>
                <a:lnTo>
                  <a:pt x="6276736" y="4625977"/>
                </a:lnTo>
                <a:lnTo>
                  <a:pt x="6288493" y="4678364"/>
                </a:lnTo>
                <a:lnTo>
                  <a:pt x="6296891" y="4738689"/>
                </a:lnTo>
                <a:lnTo>
                  <a:pt x="6300250" y="4806952"/>
                </a:lnTo>
                <a:lnTo>
                  <a:pt x="6296891" y="4875214"/>
                </a:lnTo>
                <a:lnTo>
                  <a:pt x="6288493" y="4935539"/>
                </a:lnTo>
                <a:lnTo>
                  <a:pt x="6276736" y="4987927"/>
                </a:lnTo>
                <a:lnTo>
                  <a:pt x="6261619" y="5033964"/>
                </a:lnTo>
                <a:lnTo>
                  <a:pt x="6244823" y="5075239"/>
                </a:lnTo>
                <a:lnTo>
                  <a:pt x="6224668" y="5114927"/>
                </a:lnTo>
                <a:lnTo>
                  <a:pt x="6204513" y="5149852"/>
                </a:lnTo>
                <a:lnTo>
                  <a:pt x="6184358" y="5186364"/>
                </a:lnTo>
                <a:lnTo>
                  <a:pt x="6165882" y="5226052"/>
                </a:lnTo>
                <a:lnTo>
                  <a:pt x="6147406" y="5268914"/>
                </a:lnTo>
                <a:lnTo>
                  <a:pt x="6132291" y="5313364"/>
                </a:lnTo>
                <a:lnTo>
                  <a:pt x="6122213" y="5365752"/>
                </a:lnTo>
                <a:lnTo>
                  <a:pt x="6112135" y="5426077"/>
                </a:lnTo>
                <a:lnTo>
                  <a:pt x="6110455" y="5494339"/>
                </a:lnTo>
                <a:lnTo>
                  <a:pt x="6112135" y="5562602"/>
                </a:lnTo>
                <a:lnTo>
                  <a:pt x="6122213" y="5622927"/>
                </a:lnTo>
                <a:lnTo>
                  <a:pt x="6132291" y="5675314"/>
                </a:lnTo>
                <a:lnTo>
                  <a:pt x="6147406" y="5721352"/>
                </a:lnTo>
                <a:lnTo>
                  <a:pt x="6165882" y="5762627"/>
                </a:lnTo>
                <a:lnTo>
                  <a:pt x="6184358" y="5802314"/>
                </a:lnTo>
                <a:lnTo>
                  <a:pt x="6204513" y="5840414"/>
                </a:lnTo>
                <a:lnTo>
                  <a:pt x="6224668" y="5876927"/>
                </a:lnTo>
                <a:lnTo>
                  <a:pt x="6244823" y="5915027"/>
                </a:lnTo>
                <a:lnTo>
                  <a:pt x="6261619" y="5956302"/>
                </a:lnTo>
                <a:lnTo>
                  <a:pt x="6276736" y="6003927"/>
                </a:lnTo>
                <a:lnTo>
                  <a:pt x="6288493" y="6056314"/>
                </a:lnTo>
                <a:lnTo>
                  <a:pt x="6296891" y="6113464"/>
                </a:lnTo>
                <a:lnTo>
                  <a:pt x="6300250" y="6183314"/>
                </a:lnTo>
                <a:lnTo>
                  <a:pt x="6296891" y="6251577"/>
                </a:lnTo>
                <a:lnTo>
                  <a:pt x="6288493" y="6311902"/>
                </a:lnTo>
                <a:lnTo>
                  <a:pt x="6276736" y="6361114"/>
                </a:lnTo>
                <a:lnTo>
                  <a:pt x="6261619" y="6407152"/>
                </a:lnTo>
                <a:lnTo>
                  <a:pt x="6244823" y="6448427"/>
                </a:lnTo>
                <a:lnTo>
                  <a:pt x="6226348" y="6488114"/>
                </a:lnTo>
                <a:lnTo>
                  <a:pt x="6207872" y="6523039"/>
                </a:lnTo>
                <a:lnTo>
                  <a:pt x="6187717" y="6561139"/>
                </a:lnTo>
                <a:lnTo>
                  <a:pt x="6167562" y="6597652"/>
                </a:lnTo>
                <a:lnTo>
                  <a:pt x="6150766" y="6640514"/>
                </a:lnTo>
                <a:lnTo>
                  <a:pt x="6133970" y="6683377"/>
                </a:lnTo>
                <a:lnTo>
                  <a:pt x="6123892" y="6735764"/>
                </a:lnTo>
                <a:lnTo>
                  <a:pt x="6115495" y="6791327"/>
                </a:lnTo>
                <a:lnTo>
                  <a:pt x="6110455" y="6858002"/>
                </a:lnTo>
                <a:lnTo>
                  <a:pt x="3149600" y="6858002"/>
                </a:lnTo>
                <a:lnTo>
                  <a:pt x="2707087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sv-SE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E3B475C6-1445-41C7-9360-49FD7C1C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3CBCD6-EAB9-4FFF-BE53-A44BD32B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33" y="1162940"/>
            <a:ext cx="4515598" cy="4532120"/>
          </a:xfrm>
        </p:spPr>
        <p:txBody>
          <a:bodyPr anchor="ctr">
            <a:normAutofit/>
          </a:bodyPr>
          <a:lstStyle/>
          <a:p>
            <a:r>
              <a:rPr lang="en-US" sz="4000" dirty="0" err="1">
                <a:solidFill>
                  <a:srgbClr val="2A1A00"/>
                </a:solidFill>
                <a:latin typeface="Bodoni MT" panose="02070603080606020203" pitchFamily="18" charset="0"/>
              </a:rPr>
              <a:t>Innehåll</a:t>
            </a:r>
            <a:endParaRPr lang="en-US" sz="4000" dirty="0">
              <a:solidFill>
                <a:srgbClr val="2A1A00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E1F60-FB9A-4C02-94AC-E5C4C1358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271" y="1128451"/>
            <a:ext cx="4680729" cy="4566609"/>
          </a:xfrm>
        </p:spPr>
        <p:txBody>
          <a:bodyPr anchor="ctr"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Datatyper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Jämförelser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Satser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Loopar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While &amp; For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Funktioner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Arrow-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funktioner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Klasser &amp; OOP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Listor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16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692B8B-B613-80B6-7B7D-162E1C107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281" y="4335993"/>
            <a:ext cx="1495612" cy="9581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382385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Variabler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978408"/>
            <a:ext cx="10178322" cy="5727192"/>
          </a:xfrm>
        </p:spPr>
        <p:txBody>
          <a:bodyPr>
            <a:normAutofit/>
          </a:bodyPr>
          <a:lstStyle/>
          <a:p>
            <a:r>
              <a:rPr lang="sv-SE" dirty="0"/>
              <a:t>En variabel är en ”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namngiven lagring</a:t>
            </a:r>
            <a:r>
              <a:rPr lang="sv-SE" dirty="0"/>
              <a:t>” för data.</a:t>
            </a:r>
          </a:p>
          <a:p>
            <a:r>
              <a:rPr lang="sv-SE" dirty="0"/>
              <a:t> Vi kan använda variabler för att lagra alla typer av data:</a:t>
            </a:r>
          </a:p>
          <a:p>
            <a:pPr lvl="1"/>
            <a:r>
              <a:rPr lang="sv-SE" dirty="0"/>
              <a:t>ett namn (t.ex. en sträng)</a:t>
            </a:r>
          </a:p>
          <a:p>
            <a:pPr lvl="1"/>
            <a:r>
              <a:rPr lang="sv-SE" dirty="0"/>
              <a:t>ett tal (heltal, decimaltal)</a:t>
            </a:r>
          </a:p>
          <a:p>
            <a:pPr lvl="1"/>
            <a:r>
              <a:rPr lang="sv-SE" dirty="0"/>
              <a:t>ett objekt (t.ex. en klassinstans)</a:t>
            </a:r>
          </a:p>
          <a:p>
            <a:pPr lvl="1"/>
            <a:r>
              <a:rPr lang="sv-SE" dirty="0"/>
              <a:t>och annan data</a:t>
            </a:r>
          </a:p>
          <a:p>
            <a:pPr lvl="1"/>
            <a:r>
              <a:rPr lang="sv-SE" dirty="0"/>
              <a:t>För att skapa en variabel i C++ anger vi först datatypen och sedan variabelnamnet. Sedan kan vi lägga till data i det genom att använda tilldelningsoperatorn ”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=</a:t>
            </a:r>
            <a:r>
              <a:rPr lang="sv-SE" dirty="0"/>
              <a:t>”:</a:t>
            </a:r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r>
              <a:rPr lang="sv-SE" dirty="0"/>
              <a:t>Vi kan kombinera variabeldeklarationen och tilldelningen till en enda rad:</a:t>
            </a: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AE4871-AC70-4981-ADD0-6A4830681B3F}"/>
              </a:ext>
            </a:extLst>
          </p:cNvPr>
          <p:cNvCxnSpPr>
            <a:cxnSpLocks/>
          </p:cNvCxnSpPr>
          <p:nvPr/>
        </p:nvCxnSpPr>
        <p:spPr>
          <a:xfrm flipH="1">
            <a:off x="3400926" y="4368797"/>
            <a:ext cx="3914274" cy="265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F6E466-7F1B-4421-9AA7-541469C52FF1}"/>
              </a:ext>
            </a:extLst>
          </p:cNvPr>
          <p:cNvCxnSpPr>
            <a:cxnSpLocks/>
          </p:cNvCxnSpPr>
          <p:nvPr/>
        </p:nvCxnSpPr>
        <p:spPr>
          <a:xfrm flipH="1">
            <a:off x="3802983" y="4693730"/>
            <a:ext cx="3762320" cy="206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0EF72E-75A2-41E6-9697-4E04B36E7D28}"/>
              </a:ext>
            </a:extLst>
          </p:cNvPr>
          <p:cNvSpPr txBox="1"/>
          <p:nvPr/>
        </p:nvSpPr>
        <p:spPr>
          <a:xfrm>
            <a:off x="7431381" y="4151327"/>
            <a:ext cx="2145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variabelns namn – tal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658810-E793-4421-A7B5-0F286DB5FBEA}"/>
              </a:ext>
            </a:extLst>
          </p:cNvPr>
          <p:cNvSpPr txBox="1"/>
          <p:nvPr/>
        </p:nvSpPr>
        <p:spPr>
          <a:xfrm>
            <a:off x="7565303" y="4509064"/>
            <a:ext cx="2157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variabelns värde – 10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EFD1EB-EC7E-3585-4074-830126029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372" y="5852571"/>
            <a:ext cx="1495611" cy="58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11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382385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Variabler forts.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978408"/>
            <a:ext cx="10178322" cy="5727192"/>
          </a:xfrm>
        </p:spPr>
        <p:txBody>
          <a:bodyPr>
            <a:normAutofit lnSpcReduction="10000"/>
          </a:bodyPr>
          <a:lstStyle/>
          <a:p>
            <a:r>
              <a:rPr lang="sv-SE" dirty="0"/>
              <a:t>Namngivning av en variabel får endast innehålla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bokstäver</a:t>
            </a:r>
            <a:r>
              <a:rPr lang="sv-SE" dirty="0"/>
              <a:t>,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siffror</a:t>
            </a:r>
            <a:r>
              <a:rPr lang="sv-SE" dirty="0"/>
              <a:t> eller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_ </a:t>
            </a:r>
            <a:r>
              <a:rPr lang="sv-SE" dirty="0"/>
              <a:t>(understreck).</a:t>
            </a:r>
          </a:p>
          <a:p>
            <a:r>
              <a:rPr lang="sv-SE" dirty="0"/>
              <a:t>Exempel på tillåtna namn:</a:t>
            </a:r>
            <a:br>
              <a:rPr lang="sv-SE" dirty="0"/>
            </a:br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r>
              <a:rPr lang="sv-SE" dirty="0"/>
              <a:t>Exempel på otillåtna namn: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r>
              <a:rPr lang="sv-SE" dirty="0"/>
              <a:t>Om man vill deklarera en oföränderlig variabel använd nyckelordet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const</a:t>
            </a:r>
            <a:r>
              <a:rPr lang="sv-SE" dirty="0"/>
              <a:t> framför datatypen:</a:t>
            </a:r>
            <a:br>
              <a:rPr lang="sv-SE" dirty="0"/>
            </a:br>
            <a:br>
              <a:rPr lang="sv-SE" dirty="0"/>
            </a:br>
            <a:endParaRPr lang="sv-SE" dirty="0"/>
          </a:p>
          <a:p>
            <a:r>
              <a:rPr lang="sv-SE" dirty="0"/>
              <a:t>Kan ni ange någon variabel från matematiken som skulle kunna deklareras som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const</a:t>
            </a:r>
            <a:r>
              <a:rPr lang="sv-SE" dirty="0"/>
              <a:t>?</a:t>
            </a:r>
          </a:p>
          <a:p>
            <a:r>
              <a:rPr lang="sv-SE" dirty="0"/>
              <a:t>Det finns en lista med reserverade ord som inte kan användas som variabla namn eftersom de används av själva språket. Exempel är: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int</a:t>
            </a:r>
            <a:r>
              <a:rPr lang="sv-SE" dirty="0"/>
              <a:t>,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class</a:t>
            </a:r>
            <a:r>
              <a:rPr lang="sv-SE" dirty="0"/>
              <a:t>,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return</a:t>
            </a:r>
            <a:r>
              <a:rPr lang="sv-SE" dirty="0"/>
              <a:t> och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while</a:t>
            </a:r>
            <a:r>
              <a:rPr lang="sv-SE" dirty="0"/>
              <a:t> m.m.</a:t>
            </a:r>
          </a:p>
          <a:p>
            <a:endParaRPr lang="sv-SE" dirty="0"/>
          </a:p>
          <a:p>
            <a:endParaRPr lang="sv-S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35E978-E17C-90A7-89EE-075E31B49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593" y="1494687"/>
            <a:ext cx="1792935" cy="1094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E183F5-CF97-90E2-586E-B075A17FE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338" y="2924624"/>
            <a:ext cx="4324960" cy="10945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32F4AF-531B-57B6-056C-EBBFBC0C9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188" y="4914900"/>
            <a:ext cx="3316175" cy="44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09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382385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Datatyper</a:t>
            </a: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882634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Ett värde i C++ har alltid en bestämd </a:t>
            </a:r>
            <a:r>
              <a:rPr lang="sv-SE" dirty="0" err="1"/>
              <a:t>datatyp</a:t>
            </a:r>
            <a:r>
              <a:rPr lang="sv-SE" dirty="0"/>
              <a:t>. Till exempel en sträng (text) eller ett nummer.</a:t>
            </a:r>
          </a:p>
          <a:p>
            <a:r>
              <a:rPr lang="sv-SE" dirty="0"/>
              <a:t>Exempel på vanliga </a:t>
            </a:r>
            <a:r>
              <a:rPr lang="sv-SE" dirty="0" err="1"/>
              <a:t>datatype</a:t>
            </a:r>
            <a:r>
              <a:rPr lang="sv-SE" dirty="0"/>
              <a:t>.</a:t>
            </a:r>
          </a:p>
          <a:p>
            <a:pPr lvl="1"/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int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för heltal</a:t>
            </a:r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string 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för textsträngar. En sträng kan ha noll eller flera tecken. Det finns ingen separat typ av enstaka tecken</a:t>
            </a:r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boolean 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för sant/falsk</a:t>
            </a:r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char 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enstaka tecken</a:t>
            </a:r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double 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decimaltal</a:t>
            </a:r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auto 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låter kompilatorn avgöra typen automatiskt</a:t>
            </a:r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57200" lvl="1" indent="0">
              <a:buNone/>
            </a:pPr>
            <a:endParaRPr lang="sv-S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sv-SE" dirty="0"/>
          </a:p>
          <a:p>
            <a:r>
              <a:rPr lang="sv-SE" dirty="0"/>
              <a:t>Till skillnad från JavaScript är C++ ett ”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statiskt typat</a:t>
            </a:r>
            <a:r>
              <a:rPr lang="sv-SE" dirty="0"/>
              <a:t>” språk.</a:t>
            </a:r>
            <a:br>
              <a:rPr lang="sv-SE" dirty="0"/>
            </a:br>
            <a:r>
              <a:rPr lang="sv-SE" dirty="0"/>
              <a:t>Det betyder att en variabel har en fast typ som inte kan ändras efter deklarationen.</a:t>
            </a:r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011038-2054-03F8-6834-12D1D2A09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957" y="2834214"/>
            <a:ext cx="2983314" cy="200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41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Operatorer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Följande matematikoperationer stöds i C++:</a:t>
            </a:r>
          </a:p>
          <a:p>
            <a:pPr lvl="1"/>
            <a:r>
              <a:rPr lang="sv-SE" sz="1600" dirty="0"/>
              <a:t>Addition</a:t>
            </a:r>
            <a:r>
              <a:rPr lang="sv-S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+</a:t>
            </a:r>
          </a:p>
          <a:p>
            <a:pPr lvl="1"/>
            <a:r>
              <a:rPr lang="sv-SE" sz="1600" dirty="0"/>
              <a:t>Subraktion</a:t>
            </a:r>
            <a:r>
              <a:rPr lang="sv-S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–</a:t>
            </a:r>
          </a:p>
          <a:p>
            <a:pPr lvl="1"/>
            <a:r>
              <a:rPr lang="sv-SE" sz="1600" dirty="0"/>
              <a:t>Multiplikation</a:t>
            </a:r>
            <a:r>
              <a:rPr lang="sv-S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*</a:t>
            </a:r>
          </a:p>
          <a:p>
            <a:pPr lvl="1"/>
            <a:r>
              <a:rPr lang="sv-SE" sz="1600" dirty="0"/>
              <a:t>Division</a:t>
            </a:r>
            <a:r>
              <a:rPr lang="sv-S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/</a:t>
            </a:r>
          </a:p>
          <a:p>
            <a:pPr lvl="2"/>
            <a:r>
              <a:rPr lang="sv-SE" sz="1400" dirty="0"/>
              <a:t>Vid heltalsdivision (</a:t>
            </a:r>
            <a:r>
              <a:rPr lang="sv-SE" sz="1400" dirty="0" err="1"/>
              <a:t>int</a:t>
            </a:r>
            <a:r>
              <a:rPr lang="sv-SE" sz="1400" dirty="0"/>
              <a:t>/</a:t>
            </a:r>
            <a:r>
              <a:rPr lang="sv-SE" sz="1400" dirty="0" err="1"/>
              <a:t>int</a:t>
            </a:r>
            <a:r>
              <a:rPr lang="sv-SE" sz="1400" dirty="0"/>
              <a:t>) försvinner decimalerna!</a:t>
            </a:r>
          </a:p>
          <a:p>
            <a:pPr lvl="2"/>
            <a:r>
              <a:rPr lang="sv-SE" sz="1400" dirty="0"/>
              <a:t>Exempel: 5/2 ger 2, inte 2.5</a:t>
            </a:r>
          </a:p>
          <a:p>
            <a:pPr lvl="1"/>
            <a:r>
              <a:rPr lang="sv-SE" sz="1600" dirty="0"/>
              <a:t>Restopreatorn</a:t>
            </a:r>
            <a:r>
              <a:rPr lang="sv-S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%</a:t>
            </a:r>
          </a:p>
          <a:p>
            <a:pPr lvl="2"/>
            <a:r>
              <a:rPr lang="sv-SE" sz="1400" dirty="0"/>
              <a:t>Restoperatorn trots dess utseende är inte relaterad till procent.</a:t>
            </a:r>
          </a:p>
          <a:p>
            <a:pPr lvl="2"/>
            <a:r>
              <a:rPr lang="sv-SE" sz="1400" dirty="0"/>
              <a:t>Resultatet av </a:t>
            </a:r>
            <a:r>
              <a:rPr lang="sv-SE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% b </a:t>
            </a:r>
            <a:r>
              <a:rPr lang="sv-SE" sz="1400" dirty="0"/>
              <a:t>är resten av heltalsdivisionen av </a:t>
            </a:r>
            <a:r>
              <a:rPr lang="sv-SE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</a:t>
            </a:r>
            <a:r>
              <a:rPr lang="sv-SE" sz="1400" dirty="0"/>
              <a:t>med</a:t>
            </a:r>
            <a:r>
              <a:rPr lang="sv-SE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b</a:t>
            </a:r>
          </a:p>
          <a:p>
            <a:pPr lvl="2"/>
            <a:r>
              <a:rPr lang="sv-SE" sz="1400" dirty="0"/>
              <a:t>Exempel</a:t>
            </a:r>
            <a:r>
              <a:rPr lang="sv-SE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7 % 3 </a:t>
            </a:r>
            <a:r>
              <a:rPr lang="sv-SE" sz="1400" dirty="0"/>
              <a:t>ger</a:t>
            </a:r>
            <a:r>
              <a:rPr lang="sv-SE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1</a:t>
            </a:r>
            <a:endParaRPr lang="sv-SE" dirty="0"/>
          </a:p>
          <a:p>
            <a:pPr lvl="1"/>
            <a:r>
              <a:rPr lang="sv-SE" sz="1600" dirty="0" err="1"/>
              <a:t>Exponentiering</a:t>
            </a:r>
            <a:r>
              <a:rPr lang="sv-SE" sz="1600" dirty="0"/>
              <a:t> (upphöjt till)</a:t>
            </a:r>
          </a:p>
          <a:p>
            <a:pPr lvl="2"/>
            <a:r>
              <a:rPr lang="sv-SE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C++ </a:t>
            </a:r>
            <a:r>
              <a:rPr lang="sv-SE" sz="1400" dirty="0"/>
              <a:t>har ingen inbyggd operator för upphöjt till, men man kan använda funktionen </a:t>
            </a:r>
            <a:r>
              <a:rPr lang="sv-SE" sz="1400" dirty="0" err="1"/>
              <a:t>pow</a:t>
            </a:r>
            <a:r>
              <a:rPr lang="sv-SE" sz="1400" dirty="0"/>
              <a:t>() från &lt;</a:t>
            </a:r>
            <a:r>
              <a:rPr lang="sv-SE" sz="1400" dirty="0" err="1"/>
              <a:t>cmath</a:t>
            </a:r>
            <a:r>
              <a:rPr lang="sv-SE" sz="1400" dirty="0"/>
              <a:t>&gt;</a:t>
            </a:r>
            <a:endParaRPr lang="sv-SE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r>
              <a:rPr lang="sv-SE" dirty="0" err="1"/>
              <a:t>Strängkonkatenering</a:t>
            </a:r>
            <a:r>
              <a:rPr lang="sv-SE" dirty="0"/>
              <a:t>: I C++ använder man + för att slå ihop (konkatenera) strängar.</a:t>
            </a:r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pPr lvl="1"/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98C49C-191E-0F98-214F-12594778D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542" y="5306218"/>
            <a:ext cx="4077053" cy="5563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9AB4F5-FC3E-FDF0-5C49-24D879643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463" y="1214283"/>
            <a:ext cx="4534293" cy="108213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D86D63-CECD-3877-601B-406EFA8C7FC3}"/>
              </a:ext>
            </a:extLst>
          </p:cNvPr>
          <p:cNvCxnSpPr>
            <a:cxnSpLocks/>
          </p:cNvCxnSpPr>
          <p:nvPr/>
        </p:nvCxnSpPr>
        <p:spPr>
          <a:xfrm flipH="1" flipV="1">
            <a:off x="9617529" y="2296417"/>
            <a:ext cx="653142" cy="4057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37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JAmförelser</a:t>
            </a: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Följande jämförelseoperatorer finns i C++:</a:t>
            </a:r>
          </a:p>
          <a:p>
            <a:pPr lvl="1"/>
            <a:r>
              <a:rPr lang="sv-SE" dirty="0"/>
              <a:t>större / mindre än: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&gt; b</a:t>
            </a:r>
            <a:r>
              <a:rPr lang="sv-SE" dirty="0"/>
              <a:t>,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&lt; b</a:t>
            </a:r>
          </a:p>
          <a:p>
            <a:pPr lvl="1"/>
            <a:r>
              <a:rPr lang="sv-SE" dirty="0"/>
              <a:t>Större / mindre än eller lika med: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&gt;= b</a:t>
            </a:r>
            <a:r>
              <a:rPr lang="sv-SE" dirty="0"/>
              <a:t>,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a&lt;= b</a:t>
            </a:r>
          </a:p>
          <a:p>
            <a:pPr lvl="1"/>
            <a:r>
              <a:rPr lang="sv-SE" dirty="0"/>
              <a:t>Lika med: 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== b</a:t>
            </a:r>
            <a:r>
              <a:rPr lang="sv-SE" dirty="0"/>
              <a:t>, notera att dubbla likhetstecken == betyder ”samma som” eller ”lika med” medan ett likhetstecken = betyder tilldelning</a:t>
            </a:r>
          </a:p>
          <a:p>
            <a:pPr lvl="1"/>
            <a:r>
              <a:rPr lang="sv-SE" dirty="0"/>
              <a:t>Inte lika med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!= b</a:t>
            </a:r>
          </a:p>
          <a:p>
            <a:r>
              <a:rPr lang="sv-SE" dirty="0"/>
              <a:t>Resultatet av en jämförelse är alltid en boolean:</a:t>
            </a:r>
          </a:p>
          <a:p>
            <a:pPr lvl="1"/>
            <a:r>
              <a:rPr lang="sv-SE" dirty="0"/>
              <a:t>true: betyder ”ja”, ”rätt” eller ”sant”</a:t>
            </a:r>
          </a:p>
          <a:p>
            <a:pPr lvl="1"/>
            <a:r>
              <a:rPr lang="sv-SE" dirty="0"/>
              <a:t>false: betyder ”nej”, ”fel” eller ”falskt”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endParaRPr lang="sv-SE" dirty="0"/>
          </a:p>
          <a:p>
            <a:r>
              <a:rPr lang="sv-SE" dirty="0"/>
              <a:t>Ett jämförelseresultat kan tilldelas en variabel, precis som vilket värde som helst:</a:t>
            </a:r>
          </a:p>
          <a:p>
            <a:pPr lvl="1"/>
            <a:endParaRPr lang="sv-SE" dirty="0"/>
          </a:p>
          <a:p>
            <a:endParaRPr lang="sv-SE" dirty="0"/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pPr lvl="1"/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448156-0521-BDC7-4DDF-B54478B74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599" y="5868610"/>
            <a:ext cx="4016088" cy="883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BCB2D6-A7FB-4754-63D0-89D4326AA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599" y="4233173"/>
            <a:ext cx="2286198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523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If-</a:t>
            </a:r>
            <a:r>
              <a:rPr lang="en-US" sz="4000" dirty="0" err="1">
                <a:latin typeface="Bodoni MT" panose="02070603080606020203" pitchFamily="18" charset="0"/>
              </a:rPr>
              <a:t>satser</a:t>
            </a: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Vi använder If-satser när vi vill utföra saker baserade på olika villkor.  If-satsen utvärderar ett villkor inom parantes och om resultatet är sant, körs ett kodblock:</a:t>
            </a:r>
          </a:p>
          <a:p>
            <a:pPr lvl="1"/>
            <a:endParaRPr lang="sv-SE" dirty="0"/>
          </a:p>
          <a:p>
            <a:endParaRPr lang="sv-SE" dirty="0"/>
          </a:p>
          <a:p>
            <a:r>
              <a:rPr lang="sv-SE" dirty="0"/>
              <a:t>Ett nummer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</a:t>
            </a:r>
            <a:r>
              <a:rPr lang="sv-SE" dirty="0"/>
              <a:t>, </a:t>
            </a:r>
            <a:r>
              <a:rPr lang="sv-SE" dirty="0" err="1"/>
              <a:t>false</a:t>
            </a:r>
            <a:r>
              <a:rPr lang="sv-SE" dirty="0"/>
              <a:t>, </a:t>
            </a:r>
            <a:r>
              <a:rPr lang="sv-SE" dirty="0" err="1"/>
              <a:t>nullpekare</a:t>
            </a:r>
            <a:r>
              <a:rPr lang="sv-SE" dirty="0"/>
              <a:t> (</a:t>
            </a:r>
            <a:r>
              <a:rPr lang="sv-SE" dirty="0" err="1"/>
              <a:t>nullptr</a:t>
            </a:r>
            <a:r>
              <a:rPr lang="sv-SE" dirty="0"/>
              <a:t>) blir alla falska. Därför kallas de för ”falska” värden.</a:t>
            </a:r>
          </a:p>
          <a:p>
            <a:r>
              <a:rPr lang="sv-SE" dirty="0"/>
              <a:t>Andra värden blir sanna, så de kallas ”sanna” värden.</a:t>
            </a:r>
          </a:p>
          <a:p>
            <a:pPr lvl="1"/>
            <a:endParaRPr lang="sv-SE" dirty="0"/>
          </a:p>
          <a:p>
            <a:endParaRPr lang="sv-SE" dirty="0"/>
          </a:p>
          <a:p>
            <a:r>
              <a:rPr lang="sv-SE" dirty="0"/>
              <a:t>En </a:t>
            </a:r>
            <a:r>
              <a:rPr lang="sv-SE" dirty="0" err="1"/>
              <a:t>if</a:t>
            </a:r>
            <a:r>
              <a:rPr lang="sv-SE" dirty="0"/>
              <a:t>-sats kan innehålla ett valfritt ”</a:t>
            </a:r>
            <a:r>
              <a:rPr lang="sv-SE" dirty="0" err="1"/>
              <a:t>else</a:t>
            </a:r>
            <a:r>
              <a:rPr lang="sv-SE" dirty="0"/>
              <a:t>”- block. Den körs när villkoret är felaktigt.</a:t>
            </a:r>
          </a:p>
          <a:p>
            <a:endParaRPr lang="sv-SE" dirty="0"/>
          </a:p>
          <a:p>
            <a:endParaRPr lang="sv-SE" dirty="0"/>
          </a:p>
          <a:p>
            <a:pPr marL="457200" lvl="1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5A13CD-B6AB-F155-9233-3D437BF85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577" y="1466422"/>
            <a:ext cx="3063505" cy="8382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8E40B7-6570-4E31-085B-9259ACF80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1" y="4553306"/>
            <a:ext cx="3124471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9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If-</a:t>
            </a:r>
            <a:r>
              <a:rPr lang="en-US" sz="4000" dirty="0" err="1">
                <a:latin typeface="Bodoni MT" panose="02070603080606020203" pitchFamily="18" charset="0"/>
              </a:rPr>
              <a:t>satser</a:t>
            </a:r>
            <a:r>
              <a:rPr lang="en-US" sz="4000" dirty="0">
                <a:latin typeface="Bodoni MT" panose="02070603080606020203" pitchFamily="18" charset="0"/>
              </a:rPr>
              <a:t> Forts.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Ibland vill vi testa flera varianter av ett villkor, ”</a:t>
            </a:r>
            <a:r>
              <a:rPr lang="sv-SE" dirty="0" err="1"/>
              <a:t>if-else</a:t>
            </a:r>
            <a:r>
              <a:rPr lang="sv-SE" dirty="0"/>
              <a:t>” villkoret låter oss göra det:</a:t>
            </a:r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r>
              <a:rPr lang="sv-SE" dirty="0"/>
              <a:t>Villkorsoperatorn</a:t>
            </a:r>
          </a:p>
          <a:p>
            <a:pPr lvl="1"/>
            <a:r>
              <a:rPr lang="sv-SE" dirty="0"/>
              <a:t>Ibland måste vi tilldela en variabel beroende på ett villkor.</a:t>
            </a:r>
          </a:p>
          <a:p>
            <a:pPr lvl="1"/>
            <a:r>
              <a:rPr lang="sv-SE" dirty="0"/>
              <a:t>Villkorsoperatorn tillåter oss göra det kortare. Operatorn</a:t>
            </a:r>
            <a:br>
              <a:rPr lang="sv-SE" dirty="0"/>
            </a:br>
            <a:r>
              <a:rPr lang="sv-SE" dirty="0"/>
              <a:t>representeras av ett frågetecken ”?”. Ibland kallas den för </a:t>
            </a:r>
            <a:br>
              <a:rPr lang="sv-SE" dirty="0"/>
            </a:br>
            <a:r>
              <a:rPr lang="sv-SE" dirty="0"/>
              <a:t>”</a:t>
            </a:r>
            <a:r>
              <a:rPr lang="sv-SE" dirty="0" err="1"/>
              <a:t>ternary</a:t>
            </a:r>
            <a:r>
              <a:rPr lang="sv-SE" dirty="0"/>
              <a:t>” operatorn.</a:t>
            </a:r>
          </a:p>
          <a:p>
            <a:pPr lvl="1"/>
            <a:endParaRPr lang="sv-SE" dirty="0"/>
          </a:p>
          <a:p>
            <a:pPr lvl="1"/>
            <a:r>
              <a:rPr lang="sv-SE" dirty="0"/>
              <a:t>Villkoret utvärderas: om det är sant, returneras värde 1, annars värde 2.</a:t>
            </a:r>
          </a:p>
          <a:p>
            <a:pPr lvl="1"/>
            <a:endParaRPr lang="sv-SE" dirty="0"/>
          </a:p>
          <a:p>
            <a:pPr marL="457200" lvl="1" indent="0">
              <a:buNone/>
            </a:pPr>
            <a:endParaRPr lang="sv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357ED7-DDB2-31C3-B02B-013B121A4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325" y="1221550"/>
            <a:ext cx="3036241" cy="2207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CA60A3-501C-B21D-60F9-E494506D3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290" y="3940530"/>
            <a:ext cx="3763324" cy="486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8FC08A-41ED-50B4-0331-A2A227151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8057" y="5241471"/>
            <a:ext cx="4406088" cy="75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738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Loopar</a:t>
            </a:r>
            <a:r>
              <a:rPr lang="en-US" sz="4000" dirty="0">
                <a:latin typeface="Bodoni MT" panose="02070603080606020203" pitchFamily="18" charset="0"/>
              </a:rPr>
              <a:t>: while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Vi behöver ofta upprepa saker, till exempel mata ut varor från en lista efter varandra eller bara köra samma kod för varje nummer från 1 till 10.</a:t>
            </a:r>
          </a:p>
          <a:p>
            <a:r>
              <a:rPr lang="sv-SE" dirty="0"/>
              <a:t>Loopar är ett sätt att upprepa samma kod flera gånger.</a:t>
            </a:r>
          </a:p>
          <a:p>
            <a:r>
              <a:rPr lang="sv-SE" dirty="0" err="1"/>
              <a:t>While</a:t>
            </a:r>
            <a:r>
              <a:rPr lang="sv-SE" dirty="0"/>
              <a:t>-loopen</a:t>
            </a:r>
          </a:p>
          <a:p>
            <a:pPr lvl="1"/>
            <a:r>
              <a:rPr lang="sv-SE" dirty="0"/>
              <a:t>Har följande syntax:</a:t>
            </a:r>
          </a:p>
          <a:p>
            <a:pPr lvl="1"/>
            <a:endParaRPr lang="sv-SE" dirty="0"/>
          </a:p>
          <a:p>
            <a:pPr lvl="1"/>
            <a:r>
              <a:rPr lang="sv-SE" dirty="0"/>
              <a:t>Om villkoret är sant körs kodblocket.</a:t>
            </a:r>
          </a:p>
          <a:p>
            <a:pPr lvl="1"/>
            <a:r>
              <a:rPr lang="sv-SE" dirty="0"/>
              <a:t>Till exempel skriver följande </a:t>
            </a:r>
            <a:r>
              <a:rPr lang="sv-SE" dirty="0" err="1"/>
              <a:t>while</a:t>
            </a:r>
            <a:r>
              <a:rPr lang="sv-SE" dirty="0"/>
              <a:t>-loop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</a:t>
            </a:r>
            <a:r>
              <a:rPr lang="sv-SE" dirty="0"/>
              <a:t> medan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 &lt; 3</a:t>
            </a:r>
            <a:r>
              <a:rPr lang="sv-SE" dirty="0"/>
              <a:t>.</a:t>
            </a:r>
          </a:p>
          <a:p>
            <a:pPr lvl="1"/>
            <a:r>
              <a:rPr lang="sv-SE" dirty="0"/>
              <a:t>En enda exekvering av loopen kallas en iteration. Loopen</a:t>
            </a:r>
            <a:br>
              <a:rPr lang="sv-SE" dirty="0"/>
            </a:br>
            <a:r>
              <a:rPr lang="sv-SE" dirty="0"/>
              <a:t>gör tre iterationer. Om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i++ </a:t>
            </a:r>
            <a:r>
              <a:rPr lang="sv-SE" dirty="0"/>
              <a:t>saknades skulle loopen</a:t>
            </a:r>
            <a:br>
              <a:rPr lang="sv-SE" dirty="0"/>
            </a:br>
            <a:r>
              <a:rPr lang="sv-SE" dirty="0"/>
              <a:t>upprepa (i teorin) för alltid.</a:t>
            </a:r>
          </a:p>
          <a:p>
            <a:r>
              <a:rPr lang="sv-SE" dirty="0"/>
              <a:t>Do-</a:t>
            </a:r>
            <a:r>
              <a:rPr lang="sv-SE" dirty="0" err="1"/>
              <a:t>While</a:t>
            </a:r>
            <a:r>
              <a:rPr lang="sv-SE" dirty="0"/>
              <a:t>-loopen</a:t>
            </a:r>
          </a:p>
          <a:p>
            <a:pPr lvl="1"/>
            <a:r>
              <a:rPr lang="sv-SE" dirty="0"/>
              <a:t>Villkoret kan flyttas under kodblocket om man vill köra det innan man kollar villkoret: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4D352B-E199-4BB6-BC7E-F56B4E911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654" y="2079959"/>
            <a:ext cx="3371850" cy="933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414650-1481-4CEE-BAA8-F26E2C133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160" y="5987886"/>
            <a:ext cx="3762375" cy="666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7AA426-7E70-4F68-9136-A32CC3124F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895" y="5633471"/>
            <a:ext cx="3238500" cy="1085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2CB643-2638-70EF-F7C9-6F6DD0FBEA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6019" y="3184561"/>
            <a:ext cx="1882303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03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Loopar</a:t>
            </a:r>
            <a:r>
              <a:rPr lang="en-US" sz="4000" dirty="0">
                <a:latin typeface="Bodoni MT" panose="02070603080606020203" pitchFamily="18" charset="0"/>
              </a:rPr>
              <a:t>: For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For-loopen är den vanligaste loopen.</a:t>
            </a:r>
          </a:p>
          <a:p>
            <a:endParaRPr lang="sv-SE" dirty="0"/>
          </a:p>
          <a:p>
            <a:endParaRPr lang="sv-SE" dirty="0"/>
          </a:p>
          <a:p>
            <a:r>
              <a:rPr lang="sv-SE" dirty="0"/>
              <a:t>Loopen kör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alert(i)</a:t>
            </a:r>
            <a:r>
              <a:rPr lang="sv-SE" dirty="0"/>
              <a:t> för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</a:t>
            </a:r>
            <a:r>
              <a:rPr lang="sv-SE" dirty="0"/>
              <a:t> från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</a:t>
            </a:r>
            <a:r>
              <a:rPr lang="sv-SE" dirty="0"/>
              <a:t> upp till (men inkluderar inte)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</a:t>
            </a:r>
          </a:p>
          <a:p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sv-SE" dirty="0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55ED9154-9BC6-4354-851E-A86BBA399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174502"/>
              </p:ext>
            </p:extLst>
          </p:nvPr>
        </p:nvGraphicFramePr>
        <p:xfrm>
          <a:off x="1494672" y="3502560"/>
          <a:ext cx="9493893" cy="175260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49581">
                  <a:extLst>
                    <a:ext uri="{9D8B030D-6E8A-4147-A177-3AD203B41FA5}">
                      <a16:colId xmlns:a16="http://schemas.microsoft.com/office/drawing/2014/main" val="509907113"/>
                    </a:ext>
                  </a:extLst>
                </a:gridCol>
                <a:gridCol w="1957136">
                  <a:extLst>
                    <a:ext uri="{9D8B030D-6E8A-4147-A177-3AD203B41FA5}">
                      <a16:colId xmlns:a16="http://schemas.microsoft.com/office/drawing/2014/main" val="1306976198"/>
                    </a:ext>
                  </a:extLst>
                </a:gridCol>
                <a:gridCol w="5887176">
                  <a:extLst>
                    <a:ext uri="{9D8B030D-6E8A-4147-A177-3AD203B41FA5}">
                      <a16:colId xmlns:a16="http://schemas.microsoft.com/office/drawing/2014/main" val="4268497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v-S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begin</a:t>
                      </a:r>
                      <a:endParaRPr lang="sv-S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Körs en gång när in i loopen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37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condition</a:t>
                      </a:r>
                      <a:endParaRPr lang="sv-S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 &lt;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Kontrolleras före varje loop-iteration. Om det är falskt stannar loopen.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478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body</a:t>
                      </a:r>
                      <a:endParaRPr lang="sv-S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cout</a:t>
                      </a:r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&lt;&lt;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Körs om och om medan villkoret är sant.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93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Körs efter kroppen på varje iteration.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10681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0D9D4AC-BC16-CADB-AA82-EF5AB9D2D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443" y="679270"/>
            <a:ext cx="3413156" cy="1110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BD84E5-C82A-2901-B016-DD844E725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43836"/>
            <a:ext cx="3665538" cy="8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1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Switch-</a:t>
            </a:r>
            <a:r>
              <a:rPr lang="en-US" sz="4000" dirty="0" err="1">
                <a:latin typeface="Bodoni MT" panose="02070603080606020203" pitchFamily="18" charset="0"/>
              </a:rPr>
              <a:t>satsen</a:t>
            </a: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En switch-sats kan ersätta flera </a:t>
            </a:r>
            <a:r>
              <a:rPr lang="sv-SE" dirty="0" err="1"/>
              <a:t>if</a:t>
            </a:r>
            <a:r>
              <a:rPr lang="sv-SE" dirty="0"/>
              <a:t>-satser. Det ger ett mer beskrivande sätt att jämföra ett värde med flera varianter.</a:t>
            </a:r>
          </a:p>
          <a:p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Switch-satsen har ett eller flera fall ”</a:t>
            </a:r>
            <a:r>
              <a:rPr lang="sv-S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case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”-block och ett default block som är valfritt och körs bara om inte någon av de andra fallen inte körs.</a:t>
            </a:r>
          </a:p>
          <a:p>
            <a:endParaRPr lang="sv-S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Steg för steg</a:t>
            </a:r>
          </a:p>
          <a:p>
            <a:pPr lvl="1"/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Värdet x kontrolleras för en strikt likhet med värdet från det</a:t>
            </a:r>
            <a:b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första fallet (dvs value1) sedan till det andra (value2) och så</a:t>
            </a:r>
            <a:b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vidare.</a:t>
            </a:r>
          </a:p>
          <a:p>
            <a:pPr lvl="1"/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Och likhet hittas, körs koden i blocket under fallet.</a:t>
            </a:r>
          </a:p>
          <a:p>
            <a:pPr lvl="1"/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Om inget fall matchar, körs </a:t>
            </a:r>
            <a:r>
              <a:rPr lang="sv-S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defaultkoden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(om den finns).</a:t>
            </a:r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sv-S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AF2577-AD59-E0C8-CE0F-EFB191122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561" y="2196165"/>
            <a:ext cx="3063505" cy="29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673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Funktioner</a:t>
            </a: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Ofta måste vi utföra samma uppgift på flera ställen i ett program, tex visa ett meddelande, göra en beräkning, logga in eller ut en användare.</a:t>
            </a:r>
          </a:p>
          <a:p>
            <a:r>
              <a:rPr lang="sv-SE" dirty="0"/>
              <a:t>Funktioner låter oss gruppera kod och anropa den vid behov utan att duplicera.</a:t>
            </a:r>
          </a:p>
          <a:p>
            <a:r>
              <a:rPr lang="sv-SE" b="1" dirty="0"/>
              <a:t>Funktionsdeklaration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sv-SE" dirty="0"/>
              <a:t>Börja med returtypen (t.ex. </a:t>
            </a:r>
            <a:r>
              <a:rPr lang="sv-SE" dirty="0" err="1"/>
              <a:t>int</a:t>
            </a:r>
            <a:r>
              <a:rPr lang="sv-SE" dirty="0"/>
              <a:t>, </a:t>
            </a:r>
            <a:r>
              <a:rPr lang="sv-SE" dirty="0" err="1"/>
              <a:t>void</a:t>
            </a:r>
            <a:r>
              <a:rPr lang="sv-SE" dirty="0"/>
              <a:t>),</a:t>
            </a:r>
          </a:p>
          <a:p>
            <a:pPr marL="800100" lvl="1" indent="-342900">
              <a:buFont typeface="+mj-lt"/>
              <a:buAutoNum type="arabicPeriod"/>
            </a:pPr>
            <a:r>
              <a:rPr lang="sv-SE" dirty="0"/>
              <a:t>sedan kommer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namnet</a:t>
            </a:r>
            <a:r>
              <a:rPr lang="sv-SE" dirty="0"/>
              <a:t> på funktionen, </a:t>
            </a:r>
          </a:p>
          <a:p>
            <a:pPr marL="800100" lvl="1" indent="-342900">
              <a:buFont typeface="+mj-lt"/>
              <a:buAutoNum type="arabicPeriod"/>
            </a:pPr>
            <a:r>
              <a:rPr lang="sv-SE" dirty="0"/>
              <a:t>sedan en lista över parametrar mellan parenteserna (kommaseparerade)</a:t>
            </a:r>
          </a:p>
          <a:p>
            <a:pPr marL="800100" lvl="1" indent="-342900">
              <a:buFont typeface="+mj-lt"/>
              <a:buAutoNum type="arabicPeriod"/>
            </a:pPr>
            <a:r>
              <a:rPr lang="sv-SE" dirty="0"/>
              <a:t>slutligen funktionskoden mellan måsvingarna {}. </a:t>
            </a:r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r>
              <a:rPr lang="sv-SE" dirty="0"/>
              <a:t>Fördelar</a:t>
            </a:r>
          </a:p>
          <a:p>
            <a:pPr lvl="1"/>
            <a:r>
              <a:rPr lang="sv-SE" dirty="0"/>
              <a:t>Slipper duplicera kod</a:t>
            </a:r>
          </a:p>
          <a:p>
            <a:pPr lvl="1"/>
            <a:r>
              <a:rPr lang="sv-SE" dirty="0"/>
              <a:t>Behöver bara göra ändringar på ett ställe i koden</a:t>
            </a:r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lvl="1"/>
            <a:endParaRPr lang="sv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32C3F-67E7-839D-7C4F-94A8DEDB8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565" y="2002652"/>
            <a:ext cx="2491956" cy="8992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A22936-FE74-3B41-0D3A-412F4DF1C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114" y="4131637"/>
            <a:ext cx="2918713" cy="8154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BD8ADC-A1A4-208D-FEC6-65BDA787E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595" y="4101155"/>
            <a:ext cx="2179509" cy="8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380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Funktioner</a:t>
            </a:r>
            <a:r>
              <a:rPr lang="en-US" sz="4000" dirty="0">
                <a:latin typeface="Bodoni MT" panose="02070603080606020203" pitchFamily="18" charset="0"/>
              </a:rPr>
              <a:t> FORTS.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Lokala variabler</a:t>
            </a:r>
          </a:p>
          <a:p>
            <a:pPr lvl="1"/>
            <a:r>
              <a:rPr lang="sv-SE" dirty="0"/>
              <a:t>En variabel som deklareras inuti en funktion är endast synlig inuti den funktionen:</a:t>
            </a:r>
          </a:p>
          <a:p>
            <a:pPr lvl="1"/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342900" indent="-342900">
              <a:buFont typeface="+mj-lt"/>
              <a:buAutoNum type="arabicPeriod"/>
            </a:pPr>
            <a:endParaRPr lang="sv-SE" dirty="0"/>
          </a:p>
          <a:p>
            <a:r>
              <a:rPr lang="sv-SE" dirty="0"/>
              <a:t>Yttre variabler</a:t>
            </a:r>
          </a:p>
          <a:p>
            <a:pPr lvl="1"/>
            <a:r>
              <a:rPr lang="sv-SE" dirty="0"/>
              <a:t>Funktioner kan också komma åt yttre variabler: 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lvl="1"/>
            <a:endParaRPr lang="sv-S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13C46B-E1D3-7E26-3CEB-E10D0C6EF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056" y="1837994"/>
            <a:ext cx="3558848" cy="12193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E3ACAB-44B0-27B9-5E98-AA89E73FD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931" y="4556161"/>
            <a:ext cx="4496190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90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Funktioner</a:t>
            </a:r>
            <a:r>
              <a:rPr lang="en-US" sz="4000" dirty="0">
                <a:latin typeface="Bodoni MT" panose="02070603080606020203" pitchFamily="18" charset="0"/>
              </a:rPr>
              <a:t> FORTS.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Parametrar</a:t>
            </a:r>
          </a:p>
          <a:p>
            <a:pPr lvl="1"/>
            <a:r>
              <a:rPr lang="sv-SE" dirty="0"/>
              <a:t>Vi kan tillhandahålla data till funktionerna med hjälp av parametrar, i exemplet har funktionen två parametrar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from</a:t>
            </a:r>
            <a:r>
              <a:rPr lang="sv-SE" dirty="0"/>
              <a:t> och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text</a:t>
            </a:r>
            <a:r>
              <a:rPr lang="sv-SE" dirty="0"/>
              <a:t>:</a:t>
            </a:r>
          </a:p>
          <a:p>
            <a:pPr lvl="1"/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r>
              <a:rPr lang="sv-SE" dirty="0"/>
              <a:t>Förklaring</a:t>
            </a:r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from</a:t>
            </a:r>
            <a:r>
              <a:rPr lang="sv-SE" dirty="0"/>
              <a:t> och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text</a:t>
            </a:r>
            <a:r>
              <a:rPr lang="sv-SE" dirty="0"/>
              <a:t> är parametrar</a:t>
            </a:r>
          </a:p>
          <a:p>
            <a:pPr lvl="1"/>
            <a:r>
              <a:rPr lang="sv-SE" dirty="0"/>
              <a:t>text har ett standardvärde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”no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message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” </a:t>
            </a:r>
            <a:r>
              <a:rPr lang="sv-SE" dirty="0"/>
              <a:t>som används om inget annat skickas in</a:t>
            </a:r>
          </a:p>
          <a:p>
            <a:pPr lvl="1"/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showMessage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(”Bob”) </a:t>
            </a:r>
            <a:r>
              <a:rPr lang="sv-SE" dirty="0"/>
              <a:t>använder alltså bara första parametern.</a:t>
            </a:r>
          </a:p>
          <a:p>
            <a:pPr lvl="1"/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lvl="1"/>
            <a:endParaRPr lang="sv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8114FD-6BEA-BD6E-BC53-E4ADB251B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342" y="1618155"/>
            <a:ext cx="5040086" cy="277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09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Klasser</a:t>
            </a:r>
            <a:r>
              <a:rPr lang="en-US" sz="4000" dirty="0">
                <a:latin typeface="Bodoni MT" panose="02070603080606020203" pitchFamily="18" charset="0"/>
              </a:rPr>
              <a:t> </a:t>
            </a:r>
            <a:r>
              <a:rPr lang="en-US" sz="4000" dirty="0">
                <a:latin typeface="Bodoni MT" panose="02070603080606020203" pitchFamily="18" charset="0"/>
              </a:rPr>
              <a:t>och</a:t>
            </a:r>
            <a:r>
              <a:rPr lang="en-US" sz="4000" dirty="0">
                <a:latin typeface="Bodoni MT" panose="02070603080606020203" pitchFamily="18" charset="0"/>
              </a:rPr>
              <a:t> objekt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3174274"/>
          </a:xfrm>
        </p:spPr>
        <p:txBody>
          <a:bodyPr>
            <a:normAutofit/>
          </a:bodyPr>
          <a:lstStyle/>
          <a:p>
            <a:r>
              <a:rPr lang="sv-SE" dirty="0"/>
              <a:t>Vad är en klass</a:t>
            </a:r>
          </a:p>
          <a:p>
            <a:pPr lvl="1"/>
            <a:r>
              <a:rPr lang="sv-SE" dirty="0"/>
              <a:t>En klass är en mall (eller ritning) som beskriver hur ett objekt ska se ut och fungera.</a:t>
            </a:r>
          </a:p>
          <a:p>
            <a:pPr lvl="1"/>
            <a:r>
              <a:rPr lang="sv-SE" dirty="0"/>
              <a:t>Klassen innehåller</a:t>
            </a:r>
          </a:p>
          <a:p>
            <a:pPr lvl="2"/>
            <a:r>
              <a:rPr lang="sv-SE" dirty="0"/>
              <a:t>Egenskaper (data/variabler) – t.ex. namn, ålder</a:t>
            </a:r>
          </a:p>
          <a:p>
            <a:pPr lvl="2"/>
            <a:r>
              <a:rPr lang="sv-SE" dirty="0"/>
              <a:t>Metoder (funktioner) – t.ex. visa uppgifter, ändra namn</a:t>
            </a:r>
          </a:p>
          <a:p>
            <a:pPr lvl="1"/>
            <a:r>
              <a:rPr lang="sv-SE" dirty="0"/>
              <a:t>Med en klass kan vi skapa flera objekt som fungerar på samma sätt, men har olika data.</a:t>
            </a:r>
          </a:p>
        </p:txBody>
      </p:sp>
    </p:spTree>
    <p:extLst>
      <p:ext uri="{BB962C8B-B14F-4D97-AF65-F5344CB8AC3E}">
        <p14:creationId xmlns:p14="http://schemas.microsoft.com/office/powerpoint/2010/main" val="866942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0DC68-AF05-4F5E-5840-0D54964A2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242A-F6FF-8A93-8B6E-B8D51F8A2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Klasser</a:t>
            </a:r>
            <a:r>
              <a:rPr lang="en-US" sz="4000" dirty="0">
                <a:latin typeface="Bodoni MT" panose="02070603080606020203" pitchFamily="18" charset="0"/>
              </a:rPr>
              <a:t> </a:t>
            </a:r>
            <a:r>
              <a:rPr lang="en-US" sz="4000" dirty="0">
                <a:latin typeface="Bodoni MT" panose="02070603080606020203" pitchFamily="18" charset="0"/>
              </a:rPr>
              <a:t>och</a:t>
            </a:r>
            <a:r>
              <a:rPr lang="en-US" sz="4000" dirty="0">
                <a:latin typeface="Bodoni MT" panose="02070603080606020203" pitchFamily="18" charset="0"/>
              </a:rPr>
              <a:t> objekt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895D26-D50A-D78E-6ADB-371EF5A64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733" y="615166"/>
            <a:ext cx="3021996" cy="6159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3D449D-105E-8B6F-C27A-6ABDA1B57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622" y="217784"/>
            <a:ext cx="3950782" cy="3039737"/>
          </a:xfrm>
          <a:prstGeom prst="rect">
            <a:avLst/>
          </a:prstGeom>
        </p:spPr>
      </p:pic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2DF8DBD-C6B9-D90B-2B7F-40C1D096B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1010" y="3257520"/>
            <a:ext cx="6705394" cy="3600479"/>
          </a:xfrm>
        </p:spPr>
        <p:txBody>
          <a:bodyPr>
            <a:normAutofit/>
          </a:bodyPr>
          <a:lstStyle/>
          <a:p>
            <a:r>
              <a:rPr lang="sv-SE" dirty="0"/>
              <a:t>Begrepp</a:t>
            </a:r>
          </a:p>
          <a:p>
            <a:pPr lvl="1"/>
            <a:r>
              <a:rPr lang="sv-SE" dirty="0"/>
              <a:t>Klass</a:t>
            </a:r>
          </a:p>
          <a:p>
            <a:pPr lvl="2"/>
            <a:r>
              <a:rPr lang="sv-SE" dirty="0"/>
              <a:t>En mall som beskriver objektets struktur och beteende</a:t>
            </a:r>
          </a:p>
          <a:p>
            <a:pPr lvl="1"/>
            <a:r>
              <a:rPr lang="sv-SE" dirty="0"/>
              <a:t>Objekt</a:t>
            </a:r>
          </a:p>
          <a:p>
            <a:pPr lvl="2"/>
            <a:r>
              <a:rPr lang="sv-SE" dirty="0"/>
              <a:t>En instans av en klass (en faktiskt person t.ex.)</a:t>
            </a:r>
          </a:p>
          <a:p>
            <a:pPr lvl="1"/>
            <a:r>
              <a:rPr lang="sv-SE" dirty="0"/>
              <a:t>Egenskaper</a:t>
            </a:r>
          </a:p>
          <a:p>
            <a:pPr lvl="2"/>
            <a:r>
              <a:rPr lang="sv-SE" dirty="0"/>
              <a:t>Variabler som lagrar objektets data</a:t>
            </a:r>
          </a:p>
          <a:p>
            <a:pPr lvl="1"/>
            <a:r>
              <a:rPr lang="sv-SE" dirty="0"/>
              <a:t>Metoder</a:t>
            </a:r>
          </a:p>
          <a:p>
            <a:pPr lvl="2"/>
            <a:r>
              <a:rPr lang="sv-SE" dirty="0"/>
              <a:t>Funktioner som utför handlingar på objektet</a:t>
            </a:r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82161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Array (</a:t>
            </a:r>
            <a:r>
              <a:rPr lang="en-US" sz="4000" dirty="0" err="1">
                <a:latin typeface="Bodoni MT" panose="02070603080606020203" pitchFamily="18" charset="0"/>
              </a:rPr>
              <a:t>Listor</a:t>
            </a:r>
            <a:r>
              <a:rPr lang="en-US" sz="4000" dirty="0">
                <a:latin typeface="Bodoni MT" panose="02070603080606020203" pitchFamily="18" charset="0"/>
              </a:rPr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69"/>
            <a:ext cx="10178322" cy="5946119"/>
          </a:xfrm>
        </p:spPr>
        <p:txBody>
          <a:bodyPr>
            <a:normAutofit/>
          </a:bodyPr>
          <a:lstStyle/>
          <a:p>
            <a:r>
              <a:rPr lang="sv-SE" dirty="0"/>
              <a:t>Array är en datastruktur för att lagra en ordnad lista av värden med samma </a:t>
            </a:r>
            <a:r>
              <a:rPr lang="sv-SE" dirty="0" err="1"/>
              <a:t>datatyp</a:t>
            </a:r>
            <a:r>
              <a:rPr lang="sv-SE" dirty="0"/>
              <a:t>.</a:t>
            </a:r>
          </a:p>
          <a:p>
            <a:r>
              <a:rPr lang="sv-SE" dirty="0"/>
              <a:t>Deklaration</a:t>
            </a:r>
          </a:p>
          <a:p>
            <a:pPr lvl="1"/>
            <a:r>
              <a:rPr lang="sv-SE" dirty="0"/>
              <a:t>Det finns två vanliga sätt att </a:t>
            </a:r>
            <a:r>
              <a:rPr lang="sv-SE" dirty="0" err="1"/>
              <a:t>att</a:t>
            </a:r>
            <a:r>
              <a:rPr lang="sv-SE" dirty="0"/>
              <a:t> deklarera </a:t>
            </a:r>
            <a:r>
              <a:rPr lang="sv-SE" dirty="0" err="1"/>
              <a:t>arrays</a:t>
            </a:r>
            <a:r>
              <a:rPr lang="sv-SE" dirty="0"/>
              <a:t> i C++:</a:t>
            </a:r>
          </a:p>
          <a:p>
            <a:pPr marL="457200" lvl="1" indent="0">
              <a:buNone/>
            </a:pPr>
            <a:r>
              <a:rPr lang="sv-SE" dirty="0"/>
              <a:t>   </a:t>
            </a:r>
          </a:p>
          <a:p>
            <a:pPr lvl="1"/>
            <a:endParaRPr lang="sv-SE" dirty="0"/>
          </a:p>
          <a:p>
            <a:r>
              <a:rPr lang="sv-SE" dirty="0"/>
              <a:t>Indexering</a:t>
            </a:r>
          </a:p>
          <a:p>
            <a:pPr lvl="1"/>
            <a:r>
              <a:rPr lang="sv-SE" dirty="0"/>
              <a:t>Array-elementen är numrerade från 0, precis som i JavaScript. För att få ett värde på ett visst index: 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r>
              <a:rPr lang="sv-SE" dirty="0"/>
              <a:t>Du kan ändra ett element på ett visst index så här: </a:t>
            </a:r>
          </a:p>
          <a:p>
            <a:pPr lvl="1"/>
            <a:endParaRPr lang="sv-SE" dirty="0"/>
          </a:p>
          <a:p>
            <a:pPr lvl="1"/>
            <a:r>
              <a:rPr lang="sv-SE" dirty="0"/>
              <a:t>Vanliga C++ </a:t>
            </a:r>
            <a:r>
              <a:rPr lang="sv-SE" dirty="0" err="1"/>
              <a:t>arrays</a:t>
            </a:r>
            <a:r>
              <a:rPr lang="sv-SE" dirty="0"/>
              <a:t> har fast storlek. För dynamiska listor (där man kan lägga till värden) använder vi istället </a:t>
            </a:r>
            <a:r>
              <a:rPr lang="sv-SE" dirty="0" err="1"/>
              <a:t>std</a:t>
            </a:r>
            <a:r>
              <a:rPr lang="sv-SE" dirty="0"/>
              <a:t>::</a:t>
            </a:r>
            <a:r>
              <a:rPr lang="sv-SE" dirty="0" err="1"/>
              <a:t>vector</a:t>
            </a:r>
            <a:r>
              <a:rPr lang="sv-SE" dirty="0"/>
              <a:t> från &lt;</a:t>
            </a:r>
            <a:r>
              <a:rPr lang="sv-SE" dirty="0" err="1"/>
              <a:t>vector</a:t>
            </a:r>
            <a:r>
              <a:rPr lang="sv-SE" dirty="0"/>
              <a:t>&gt;</a:t>
            </a:r>
          </a:p>
          <a:p>
            <a:pPr marL="457200" lvl="1" indent="0">
              <a:buNone/>
            </a:pPr>
            <a:endParaRPr lang="sv-S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43148A-8231-B7B3-8925-758324C24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624" y="2000753"/>
            <a:ext cx="6700126" cy="5960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8A989C-F575-0F48-CEF5-A74F3D48A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624" y="3676651"/>
            <a:ext cx="6253400" cy="4190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4ECEF2-C838-0EE1-5401-80096F241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623" y="4646823"/>
            <a:ext cx="4808611" cy="4190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D61588-6F27-00D5-2F82-8FA4C040A7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7378" y="5616996"/>
            <a:ext cx="3991806" cy="107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668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FORTS(</a:t>
            </a:r>
            <a:r>
              <a:rPr lang="en-US" sz="4000" dirty="0" err="1">
                <a:latin typeface="Bodoni MT" panose="02070603080606020203" pitchFamily="18" charset="0"/>
              </a:rPr>
              <a:t>Listor</a:t>
            </a:r>
            <a:r>
              <a:rPr lang="en-US" sz="4000" dirty="0">
                <a:latin typeface="Bodoni MT" panose="02070603080606020203" pitchFamily="18" charset="0"/>
              </a:rPr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69"/>
            <a:ext cx="10178322" cy="5946119"/>
          </a:xfrm>
        </p:spPr>
        <p:txBody>
          <a:bodyPr>
            <a:normAutofit/>
          </a:bodyPr>
          <a:lstStyle/>
          <a:p>
            <a:r>
              <a:rPr lang="sv-SE" dirty="0"/>
              <a:t>Hitta längden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75E053-A24D-760E-38C4-B3894CCED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890" y="1389888"/>
            <a:ext cx="7773264" cy="113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60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Metoder</a:t>
            </a:r>
            <a:r>
              <a:rPr lang="en-US" sz="4000" dirty="0">
                <a:latin typeface="Bodoni MT" panose="02070603080606020203" pitchFamily="18" charset="0"/>
              </a:rPr>
              <a:t> </a:t>
            </a:r>
            <a:r>
              <a:rPr lang="en-US" sz="4000" dirty="0" err="1">
                <a:latin typeface="Bodoni MT" panose="02070603080606020203" pitchFamily="18" charset="0"/>
              </a:rPr>
              <a:t>på</a:t>
            </a:r>
            <a:r>
              <a:rPr lang="en-US" sz="4000" dirty="0">
                <a:latin typeface="Bodoni MT" panose="02070603080606020203" pitchFamily="18" charset="0"/>
              </a:rPr>
              <a:t> Arrays (</a:t>
            </a:r>
            <a:r>
              <a:rPr lang="en-US" sz="4000" dirty="0" err="1">
                <a:latin typeface="Bodoni MT" panose="02070603080606020203" pitchFamily="18" charset="0"/>
              </a:rPr>
              <a:t>Listor</a:t>
            </a:r>
            <a:r>
              <a:rPr lang="en-US" sz="4000" dirty="0">
                <a:latin typeface="Bodoni MT" panose="02070603080606020203" pitchFamily="18" charset="0"/>
              </a:rPr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537332"/>
            <a:ext cx="10178322" cy="594611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sv-SE" dirty="0"/>
          </a:p>
          <a:p>
            <a:r>
              <a:rPr lang="sv-SE" dirty="0"/>
              <a:t>Tar bort det första elementet i </a:t>
            </a:r>
            <a:r>
              <a:rPr lang="sv-SE" dirty="0" err="1"/>
              <a:t>arrayen</a:t>
            </a:r>
            <a:r>
              <a:rPr lang="sv-SE" dirty="0"/>
              <a:t>/listan och returnerar det: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marL="457200" lvl="1" indent="0">
              <a:buNone/>
            </a:pPr>
            <a:endParaRPr lang="sv-SE" dirty="0"/>
          </a:p>
          <a:p>
            <a:pPr lvl="1"/>
            <a:endParaRPr lang="sv-SE" dirty="0"/>
          </a:p>
          <a:p>
            <a:r>
              <a:rPr lang="sv-SE" dirty="0"/>
              <a:t>Lägg till elementet i början av </a:t>
            </a:r>
            <a:r>
              <a:rPr lang="sv-SE" dirty="0" err="1"/>
              <a:t>arrayen</a:t>
            </a:r>
            <a:r>
              <a:rPr lang="sv-SE" dirty="0"/>
              <a:t>:</a:t>
            </a:r>
          </a:p>
          <a:p>
            <a:pPr lvl="1"/>
            <a:endParaRPr lang="sv-SE" dirty="0"/>
          </a:p>
          <a:p>
            <a:pPr marL="457200" lvl="1" indent="0">
              <a:buNone/>
            </a:pPr>
            <a:endParaRPr lang="sv-SE" dirty="0"/>
          </a:p>
          <a:p>
            <a:r>
              <a:rPr lang="sv-SE" dirty="0"/>
              <a:t>Lägg till flera element i början: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664209-59D6-F964-4981-D0BC84E32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889" y="1300631"/>
            <a:ext cx="3679111" cy="16597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2BC5D5-82A1-ACD1-7BCC-40C31D133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889" y="3581741"/>
            <a:ext cx="4618062" cy="3848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2E6FF8-0018-9136-7A07-63EAE6C14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6889" y="4642034"/>
            <a:ext cx="4389500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46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28A3E57F-DE9A-45F6-BEF3-EF8EEA07E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662" y="756357"/>
            <a:ext cx="8187071" cy="1253066"/>
          </a:xfrm>
        </p:spPr>
        <p:txBody>
          <a:bodyPr/>
          <a:lstStyle/>
          <a:p>
            <a:r>
              <a:rPr lang="en-US" dirty="0"/>
              <a:t>Slide Tite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A1257-66A3-465A-A773-E2D1F421929F}"/>
              </a:ext>
            </a:extLst>
          </p:cNvPr>
          <p:cNvSpPr txBox="1"/>
          <p:nvPr/>
        </p:nvSpPr>
        <p:spPr>
          <a:xfrm>
            <a:off x="4828457" y="2721114"/>
            <a:ext cx="8487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Lets Go Champ!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06841-1670-9085-5B3E-0F6B7AAA55C9}"/>
              </a:ext>
            </a:extLst>
          </p:cNvPr>
          <p:cNvSpPr txBox="1"/>
          <p:nvPr/>
        </p:nvSpPr>
        <p:spPr>
          <a:xfrm>
            <a:off x="4190260" y="3672681"/>
            <a:ext cx="665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https://www.youtube.com/watch?v=iVmyG1qNuPQ</a:t>
            </a:r>
          </a:p>
        </p:txBody>
      </p:sp>
    </p:spTree>
    <p:extLst>
      <p:ext uri="{BB962C8B-B14F-4D97-AF65-F5344CB8AC3E}">
        <p14:creationId xmlns:p14="http://schemas.microsoft.com/office/powerpoint/2010/main" val="1059349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/>
          </a:bodyPr>
          <a:lstStyle/>
          <a:p>
            <a:r>
              <a:rPr lang="sv-SE" sz="3600" dirty="0">
                <a:latin typeface="Bodoni MT" panose="02070603080606020203" pitchFamily="18" charset="0"/>
              </a:rPr>
              <a:t>Objektorienterad programmering</a:t>
            </a:r>
          </a:p>
        </p:txBody>
      </p:sp>
      <p:sp>
        <p:nvSpPr>
          <p:cNvPr id="3" name="Begrepp"/>
          <p:cNvSpPr txBox="1"/>
          <p:nvPr/>
        </p:nvSpPr>
        <p:spPr>
          <a:xfrm>
            <a:off x="1207008" y="914400"/>
            <a:ext cx="4297680" cy="5394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sv-SE" sz="1800" dirty="0">
                <a:solidFill>
                  <a:srgbClr val="404040"/>
                </a:solidFill>
              </a:rPr>
              <a:t>I OOP samlar vi data och funktioner som hör ihop i objekt.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700" b="1" dirty="0">
                <a:solidFill>
                  <a:srgbClr val="2A1A00"/>
                </a:solidFill>
              </a:rPr>
              <a:t>Klass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dirty="0">
                <a:solidFill>
                  <a:srgbClr val="404040"/>
                </a:solidFill>
              </a:rPr>
              <a:t>En mall eller ritning, som receptet för en glass.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700" b="1" dirty="0">
                <a:solidFill>
                  <a:srgbClr val="2A1A00"/>
                </a:solidFill>
              </a:rPr>
              <a:t>Objekt / instans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dirty="0">
                <a:solidFill>
                  <a:srgbClr val="404040"/>
                </a:solidFill>
              </a:rPr>
              <a:t>En riktig glass som skapas från klassen.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700" b="1" dirty="0">
                <a:solidFill>
                  <a:srgbClr val="2A1A00"/>
                </a:solidFill>
              </a:rPr>
              <a:t>Egenskaper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dirty="0">
                <a:solidFill>
                  <a:srgbClr val="404040"/>
                </a:solidFill>
              </a:rPr>
              <a:t>Data som objektet har, t.ex. smak och kulor.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700" b="1" dirty="0">
                <a:solidFill>
                  <a:srgbClr val="2A1A00"/>
                </a:solidFill>
              </a:rPr>
              <a:t>Metoder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dirty="0">
                <a:solidFill>
                  <a:srgbClr val="404040"/>
                </a:solidFill>
              </a:rPr>
              <a:t>Saker objektet kan göra, t.ex. beskriv().</a:t>
            </a:r>
          </a:p>
          <a:p>
            <a:pPr marL="0" indent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sv-SE" sz="1600" i="1" dirty="0">
                <a:solidFill>
                  <a:srgbClr val="6B6B6B"/>
                </a:solidFill>
              </a:rPr>
              <a:t>En klass, många objekt. Varje objekt har sina egna värden.</a:t>
            </a:r>
          </a:p>
        </p:txBody>
      </p:sp>
      <p:sp>
        <p:nvSpPr>
          <p:cNvPr id="4" name="Klass Glass"/>
          <p:cNvSpPr/>
          <p:nvPr/>
        </p:nvSpPr>
        <p:spPr>
          <a:xfrm>
            <a:off x="6766560" y="914400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8B323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182880" tIns="73152" rIns="182880" bIns="73152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100" b="1" dirty="0">
                <a:solidFill>
                  <a:srgbClr val="2A1A00"/>
                </a:solidFill>
              </a:rPr>
              <a:t>KLASS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2400" b="1" dirty="0">
                <a:solidFill>
                  <a:srgbClr val="2A1A00"/>
                </a:solidFill>
              </a:rPr>
              <a:t>Glass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dirty="0">
                <a:solidFill>
                  <a:srgbClr val="2A1A00"/>
                </a:solidFill>
                <a:latin typeface="Courier New"/>
                <a:cs typeface="Courier New"/>
              </a:rPr>
              <a:t>smak · kulor · pris() · beskriv()</a:t>
            </a:r>
          </a:p>
        </p:txBody>
      </p:sp>
      <p:sp>
        <p:nvSpPr>
          <p:cNvPr id="5" name="Pil"/>
          <p:cNvSpPr/>
          <p:nvPr/>
        </p:nvSpPr>
        <p:spPr>
          <a:xfrm>
            <a:off x="6611112" y="2450592"/>
            <a:ext cx="219456" cy="411480"/>
          </a:xfrm>
          <a:prstGeom prst="downArrow">
            <a:avLst/>
          </a:prstGeom>
          <a:solidFill>
            <a:srgbClr val="B8B8B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6" name="Pil"/>
          <p:cNvSpPr/>
          <p:nvPr/>
        </p:nvSpPr>
        <p:spPr>
          <a:xfrm>
            <a:off x="8577072" y="2450592"/>
            <a:ext cx="219456" cy="411480"/>
          </a:xfrm>
          <a:prstGeom prst="downArrow">
            <a:avLst/>
          </a:prstGeom>
          <a:solidFill>
            <a:srgbClr val="B8B8B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7" name="Pil"/>
          <p:cNvSpPr/>
          <p:nvPr/>
        </p:nvSpPr>
        <p:spPr>
          <a:xfrm>
            <a:off x="10543032" y="2450592"/>
            <a:ext cx="219456" cy="411480"/>
          </a:xfrm>
          <a:prstGeom prst="downArrow">
            <a:avLst/>
          </a:prstGeom>
          <a:solidFill>
            <a:srgbClr val="B8B8B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8" name="Etikett new"/>
          <p:cNvSpPr txBox="1"/>
          <p:nvPr/>
        </p:nvSpPr>
        <p:spPr>
          <a:xfrm>
            <a:off x="5897880" y="288036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i="1" dirty="0">
                <a:solidFill>
                  <a:srgbClr val="6B6B6B"/>
                </a:solidFill>
              </a:rPr>
              <a:t>skapar objekt (instanser)</a:t>
            </a:r>
          </a:p>
        </p:txBody>
      </p:sp>
      <p:sp>
        <p:nvSpPr>
          <p:cNvPr id="9" name="Objekt glass1"/>
          <p:cNvSpPr/>
          <p:nvPr/>
        </p:nvSpPr>
        <p:spPr>
          <a:xfrm>
            <a:off x="5897880" y="3246120"/>
            <a:ext cx="164592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0" name="Strut"/>
          <p:cNvSpPr/>
          <p:nvPr/>
        </p:nvSpPr>
        <p:spPr>
          <a:xfrm flipV="1">
            <a:off x="6503670" y="4444898"/>
            <a:ext cx="434340" cy="538582"/>
          </a:xfrm>
          <a:prstGeom prst="triangle">
            <a:avLst/>
          </a:prstGeom>
          <a:solidFill>
            <a:srgbClr val="D9A25F"/>
          </a:solidFill>
          <a:ln w="12700">
            <a:solidFill>
              <a:srgbClr val="B7803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1" name="Kula 1"/>
          <p:cNvSpPr/>
          <p:nvPr/>
        </p:nvSpPr>
        <p:spPr>
          <a:xfrm>
            <a:off x="6521044" y="4157192"/>
            <a:ext cx="399593" cy="399593"/>
          </a:xfrm>
          <a:prstGeom prst="ellipse">
            <a:avLst/>
          </a:prstGeom>
          <a:solidFill>
            <a:srgbClr val="6B3E26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2" name="Kula 2"/>
          <p:cNvSpPr/>
          <p:nvPr/>
        </p:nvSpPr>
        <p:spPr>
          <a:xfrm>
            <a:off x="6521044" y="3909444"/>
            <a:ext cx="399593" cy="399593"/>
          </a:xfrm>
          <a:prstGeom prst="ellipse">
            <a:avLst/>
          </a:prstGeom>
          <a:solidFill>
            <a:srgbClr val="6B3E26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3" name="Text glass1"/>
          <p:cNvSpPr txBox="1"/>
          <p:nvPr/>
        </p:nvSpPr>
        <p:spPr>
          <a:xfrm>
            <a:off x="5989320" y="50749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b="1" dirty="0">
                <a:solidFill>
                  <a:srgbClr val="2A1A00"/>
                </a:solidFill>
                <a:latin typeface="Courier New"/>
                <a:cs typeface="Courier New"/>
              </a:rPr>
              <a:t>glass1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404040"/>
                </a:solidFill>
              </a:rPr>
              <a:t>Choklad, 2 kulor</a:t>
            </a:r>
          </a:p>
        </p:txBody>
      </p:sp>
      <p:sp>
        <p:nvSpPr>
          <p:cNvPr id="14" name="Objekt glass2"/>
          <p:cNvSpPr/>
          <p:nvPr/>
        </p:nvSpPr>
        <p:spPr>
          <a:xfrm>
            <a:off x="7863840" y="3246120"/>
            <a:ext cx="164592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5" name="Strut"/>
          <p:cNvSpPr/>
          <p:nvPr/>
        </p:nvSpPr>
        <p:spPr>
          <a:xfrm flipV="1">
            <a:off x="8469630" y="4444898"/>
            <a:ext cx="434340" cy="538582"/>
          </a:xfrm>
          <a:prstGeom prst="triangle">
            <a:avLst/>
          </a:prstGeom>
          <a:solidFill>
            <a:srgbClr val="D9A25F"/>
          </a:solidFill>
          <a:ln w="12700">
            <a:solidFill>
              <a:srgbClr val="B7803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6" name="Kula 1"/>
          <p:cNvSpPr/>
          <p:nvPr/>
        </p:nvSpPr>
        <p:spPr>
          <a:xfrm>
            <a:off x="8487004" y="4157192"/>
            <a:ext cx="399593" cy="399593"/>
          </a:xfrm>
          <a:prstGeom prst="ellipse">
            <a:avLst/>
          </a:prstGeom>
          <a:solidFill>
            <a:srgbClr val="F29CB3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7" name="Kula 2"/>
          <p:cNvSpPr/>
          <p:nvPr/>
        </p:nvSpPr>
        <p:spPr>
          <a:xfrm>
            <a:off x="8487004" y="3909444"/>
            <a:ext cx="399593" cy="399593"/>
          </a:xfrm>
          <a:prstGeom prst="ellipse">
            <a:avLst/>
          </a:prstGeom>
          <a:solidFill>
            <a:srgbClr val="F29CB3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8" name="Kula 3"/>
          <p:cNvSpPr/>
          <p:nvPr/>
        </p:nvSpPr>
        <p:spPr>
          <a:xfrm>
            <a:off x="8487004" y="3661697"/>
            <a:ext cx="399593" cy="399593"/>
          </a:xfrm>
          <a:prstGeom prst="ellipse">
            <a:avLst/>
          </a:prstGeom>
          <a:solidFill>
            <a:srgbClr val="F29CB3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9" name="Text glass2"/>
          <p:cNvSpPr txBox="1"/>
          <p:nvPr/>
        </p:nvSpPr>
        <p:spPr>
          <a:xfrm>
            <a:off x="7955280" y="50749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b="1" dirty="0">
                <a:solidFill>
                  <a:srgbClr val="2A1A00"/>
                </a:solidFill>
                <a:latin typeface="Courier New"/>
                <a:cs typeface="Courier New"/>
              </a:rPr>
              <a:t>glass2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404040"/>
                </a:solidFill>
              </a:rPr>
              <a:t>Jordgubb, 3 kulor</a:t>
            </a:r>
          </a:p>
        </p:txBody>
      </p:sp>
      <p:sp>
        <p:nvSpPr>
          <p:cNvPr id="20" name="Objekt glass3"/>
          <p:cNvSpPr/>
          <p:nvPr/>
        </p:nvSpPr>
        <p:spPr>
          <a:xfrm>
            <a:off x="9829800" y="3246120"/>
            <a:ext cx="164592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21" name="Strut"/>
          <p:cNvSpPr/>
          <p:nvPr/>
        </p:nvSpPr>
        <p:spPr>
          <a:xfrm flipV="1">
            <a:off x="10435590" y="4444898"/>
            <a:ext cx="434340" cy="538582"/>
          </a:xfrm>
          <a:prstGeom prst="triangle">
            <a:avLst/>
          </a:prstGeom>
          <a:solidFill>
            <a:srgbClr val="D9A25F"/>
          </a:solidFill>
          <a:ln w="12700">
            <a:solidFill>
              <a:srgbClr val="B7803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22" name="Kula 1"/>
          <p:cNvSpPr/>
          <p:nvPr/>
        </p:nvSpPr>
        <p:spPr>
          <a:xfrm>
            <a:off x="10452964" y="4157192"/>
            <a:ext cx="399593" cy="399593"/>
          </a:xfrm>
          <a:prstGeom prst="ellipse">
            <a:avLst/>
          </a:prstGeom>
          <a:solidFill>
            <a:srgbClr val="F6E7B8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23" name="Text glass3"/>
          <p:cNvSpPr txBox="1"/>
          <p:nvPr/>
        </p:nvSpPr>
        <p:spPr>
          <a:xfrm>
            <a:off x="9921240" y="50749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b="1" dirty="0">
                <a:solidFill>
                  <a:srgbClr val="2A1A00"/>
                </a:solidFill>
                <a:latin typeface="Courier New"/>
                <a:cs typeface="Courier New"/>
              </a:rPr>
              <a:t>glass3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404040"/>
                </a:solidFill>
              </a:rPr>
              <a:t>Vanilj, 1 kula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/>
          </a:bodyPr>
          <a:lstStyle/>
          <a:p>
            <a:r>
              <a:rPr lang="sv-SE" sz="3600" dirty="0">
                <a:latin typeface="Bodoni MT" panose="02070603080606020203" pitchFamily="18" charset="0"/>
              </a:rPr>
              <a:t>Skapa en klass – Glass</a:t>
            </a:r>
          </a:p>
        </p:txBody>
      </p:sp>
      <p:sp>
        <p:nvSpPr>
          <p:cNvPr id="3" name="Kod"/>
          <p:cNvSpPr/>
          <p:nvPr/>
        </p:nvSpPr>
        <p:spPr>
          <a:xfrm>
            <a:off x="1207008" y="868680"/>
            <a:ext cx="6172200" cy="462508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274320" tIns="201168" rIns="274320" bIns="201168" anchor="t" rtlCol="0">
            <a:noAutofit/>
          </a:bodyPr>
          <a:lstStyle/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A626A4"/>
                </a:solidFill>
                <a:latin typeface="Courier New"/>
                <a:cs typeface="Courier New"/>
              </a:rPr>
              <a:t>class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2E6FDB"/>
                </a:solidFill>
                <a:latin typeface="Courier New"/>
                <a:cs typeface="Courier New"/>
              </a:rPr>
              <a:t>Glass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{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A626A4"/>
                </a:solidFill>
                <a:latin typeface="Courier New"/>
                <a:cs typeface="Courier New"/>
              </a:rPr>
              <a:t>public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: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dirty="0">
                <a:solidFill>
                  <a:srgbClr val="2E6FDB"/>
                </a:solidFill>
                <a:latin typeface="Courier New"/>
                <a:cs typeface="Courier New"/>
              </a:rPr>
              <a:t>string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smak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dirty="0">
                <a:solidFill>
                  <a:srgbClr val="2E6FDB"/>
                </a:solidFill>
                <a:latin typeface="Courier New"/>
                <a:cs typeface="Courier New"/>
              </a:rPr>
              <a:t>int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kulor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dirty="0">
                <a:solidFill>
                  <a:srgbClr val="2E6FDB"/>
                </a:solidFill>
                <a:latin typeface="Courier New"/>
                <a:cs typeface="Courier New"/>
              </a:rPr>
              <a:t>Glass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2E6FDB"/>
                </a:solidFill>
                <a:latin typeface="Courier New"/>
                <a:cs typeface="Courier New"/>
              </a:rPr>
              <a:t>string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,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2E6FDB"/>
                </a:solidFill>
                <a:latin typeface="Courier New"/>
                <a:cs typeface="Courier New"/>
              </a:rPr>
              <a:t>int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k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{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   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smak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   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kulor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k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}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dirty="0">
                <a:solidFill>
                  <a:srgbClr val="2E6FDB"/>
                </a:solidFill>
                <a:latin typeface="Courier New"/>
                <a:cs typeface="Courier New"/>
              </a:rPr>
              <a:t>int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pris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{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    </a:t>
            </a:r>
            <a:r>
              <a:rPr lang="sv-SE" sz="1300" dirty="0">
                <a:solidFill>
                  <a:srgbClr val="A626A4"/>
                </a:solidFill>
                <a:latin typeface="Courier New"/>
                <a:cs typeface="Courier New"/>
              </a:rPr>
              <a:t>return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kulor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*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B26B00"/>
                </a:solidFill>
                <a:latin typeface="Courier New"/>
                <a:cs typeface="Courier New"/>
              </a:rPr>
              <a:t>15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}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dirty="0">
                <a:solidFill>
                  <a:srgbClr val="2E6FDB"/>
                </a:solidFill>
                <a:latin typeface="Courier New"/>
                <a:cs typeface="Courier New"/>
              </a:rPr>
              <a:t>void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beskriv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{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   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cout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smak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F9A3E"/>
                </a:solidFill>
                <a:latin typeface="Courier New"/>
                <a:cs typeface="Courier New"/>
              </a:rPr>
              <a:t>": "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kulor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F9A3E"/>
                </a:solidFill>
                <a:latin typeface="Courier New"/>
                <a:cs typeface="Courier New"/>
              </a:rPr>
              <a:t>" kulor, "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        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pris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F9A3E"/>
                </a:solidFill>
                <a:latin typeface="Courier New"/>
                <a:cs typeface="Courier New"/>
              </a:rPr>
              <a:t>" kr"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&lt;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endl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}</a:t>
            </a:r>
            <a:endParaRPr lang="sv-SE" sz="1300" dirty="0"/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}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</p:txBody>
      </p:sp>
      <p:sp>
        <p:nvSpPr>
          <p:cNvPr id="4" name="Markering 1"/>
          <p:cNvSpPr/>
          <p:nvPr/>
        </p:nvSpPr>
        <p:spPr>
          <a:xfrm>
            <a:off x="2951988" y="1052957"/>
            <a:ext cx="256032" cy="256032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1</a:t>
            </a:r>
          </a:p>
        </p:txBody>
      </p:sp>
      <p:sp>
        <p:nvSpPr>
          <p:cNvPr id="5" name="Markering 2"/>
          <p:cNvSpPr/>
          <p:nvPr/>
        </p:nvSpPr>
        <p:spPr>
          <a:xfrm>
            <a:off x="3249168" y="1497457"/>
            <a:ext cx="256032" cy="256032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2</a:t>
            </a:r>
          </a:p>
        </p:txBody>
      </p:sp>
      <p:sp>
        <p:nvSpPr>
          <p:cNvPr id="6" name="Markering 3"/>
          <p:cNvSpPr/>
          <p:nvPr/>
        </p:nvSpPr>
        <p:spPr>
          <a:xfrm>
            <a:off x="4437888" y="2164207"/>
            <a:ext cx="256032" cy="256032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3</a:t>
            </a:r>
          </a:p>
        </p:txBody>
      </p:sp>
      <p:sp>
        <p:nvSpPr>
          <p:cNvPr id="7" name="Markering 4"/>
          <p:cNvSpPr/>
          <p:nvPr/>
        </p:nvSpPr>
        <p:spPr>
          <a:xfrm>
            <a:off x="3249168" y="3275457"/>
            <a:ext cx="256032" cy="256032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4</a:t>
            </a:r>
          </a:p>
        </p:txBody>
      </p:sp>
      <p:sp>
        <p:nvSpPr>
          <p:cNvPr id="8" name="Markering 1"/>
          <p:cNvSpPr/>
          <p:nvPr/>
        </p:nvSpPr>
        <p:spPr>
          <a:xfrm>
            <a:off x="7680960" y="996696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1</a:t>
            </a:r>
          </a:p>
        </p:txBody>
      </p:sp>
      <p:sp>
        <p:nvSpPr>
          <p:cNvPr id="9" name="Förklaring 1"/>
          <p:cNvSpPr txBox="1"/>
          <p:nvPr/>
        </p:nvSpPr>
        <p:spPr>
          <a:xfrm>
            <a:off x="8138160" y="960120"/>
            <a:ext cx="3611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  <a:latin typeface="Courier New"/>
                <a:cs typeface="Courier New"/>
              </a:rPr>
              <a:t>class Glass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Klassens namn, med stor bokstav. public: gör medlemmarna nåbara utanför klassen.</a:t>
            </a:r>
          </a:p>
        </p:txBody>
      </p:sp>
      <p:sp>
        <p:nvSpPr>
          <p:cNvPr id="10" name="Markering 2"/>
          <p:cNvSpPr/>
          <p:nvPr/>
        </p:nvSpPr>
        <p:spPr>
          <a:xfrm>
            <a:off x="7680960" y="2112264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2</a:t>
            </a:r>
          </a:p>
        </p:txBody>
      </p:sp>
      <p:sp>
        <p:nvSpPr>
          <p:cNvPr id="11" name="Förklaring 2"/>
          <p:cNvSpPr txBox="1"/>
          <p:nvPr/>
        </p:nvSpPr>
        <p:spPr>
          <a:xfrm>
            <a:off x="8138160" y="2075688"/>
            <a:ext cx="3611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</a:rPr>
              <a:t>Egenskaper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Variabler som varje glass har: smak och antal kulor.</a:t>
            </a:r>
          </a:p>
        </p:txBody>
      </p:sp>
      <p:sp>
        <p:nvSpPr>
          <p:cNvPr id="12" name="Markering 3"/>
          <p:cNvSpPr/>
          <p:nvPr/>
        </p:nvSpPr>
        <p:spPr>
          <a:xfrm>
            <a:off x="7680960" y="3227832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3</a:t>
            </a:r>
          </a:p>
        </p:txBody>
      </p:sp>
      <p:sp>
        <p:nvSpPr>
          <p:cNvPr id="13" name="Förklaring 3"/>
          <p:cNvSpPr txBox="1"/>
          <p:nvPr/>
        </p:nvSpPr>
        <p:spPr>
          <a:xfrm>
            <a:off x="8138160" y="3191256"/>
            <a:ext cx="3611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</a:rPr>
              <a:t>Konstruktor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Har samma namn som klassen och körs när en glass skapas. Den sätter startvärdena.</a:t>
            </a:r>
          </a:p>
        </p:txBody>
      </p:sp>
      <p:sp>
        <p:nvSpPr>
          <p:cNvPr id="14" name="Markering 4"/>
          <p:cNvSpPr/>
          <p:nvPr/>
        </p:nvSpPr>
        <p:spPr>
          <a:xfrm>
            <a:off x="7680960" y="4343400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4</a:t>
            </a:r>
          </a:p>
        </p:txBody>
      </p:sp>
      <p:sp>
        <p:nvSpPr>
          <p:cNvPr id="15" name="Förklaring 4"/>
          <p:cNvSpPr txBox="1"/>
          <p:nvPr/>
        </p:nvSpPr>
        <p:spPr>
          <a:xfrm>
            <a:off x="8138160" y="4306824"/>
            <a:ext cx="3611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</a:rPr>
              <a:t>Metoder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Funktioner som hör till klassen, t.ex. pris() och beskriv().</a:t>
            </a:r>
          </a:p>
        </p:txBody>
      </p:sp>
      <p:sp>
        <p:nvSpPr>
          <p:cNvPr id="16" name="Tips"/>
          <p:cNvSpPr/>
          <p:nvPr/>
        </p:nvSpPr>
        <p:spPr>
          <a:xfrm>
            <a:off x="7680960" y="5513832"/>
            <a:ext cx="4069080" cy="822960"/>
          </a:xfrm>
          <a:prstGeom prst="roundRect">
            <a:avLst>
              <a:gd name="adj" fmla="val 12000"/>
            </a:avLst>
          </a:prstGeom>
          <a:solidFill>
            <a:srgbClr val="FBE7B8"/>
          </a:solidFill>
          <a:ln>
            <a:noFill/>
          </a:ln>
        </p:spPr>
        <p:txBody>
          <a:bodyPr wrap="square" lIns="182880" tIns="73152" rIns="182880" bIns="7315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b="1" dirty="0">
                <a:solidFill>
                  <a:srgbClr val="2A1A00"/>
                </a:solidFill>
              </a:rPr>
              <a:t xml:space="preserve">Tips: </a:t>
            </a:r>
            <a:r>
              <a:rPr lang="sv-SE" sz="1300" dirty="0">
                <a:solidFill>
                  <a:srgbClr val="2A1A00"/>
                </a:solidFill>
              </a:rPr>
              <a:t>Glöm inte semikolon efter klassens avslutande };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/>
          </a:bodyPr>
          <a:lstStyle/>
          <a:p>
            <a:r>
              <a:rPr lang="sv-SE" sz="3600" dirty="0">
                <a:latin typeface="Bodoni MT" panose="02070603080606020203" pitchFamily="18" charset="0"/>
              </a:rPr>
              <a:t>Skapa instanser (objekt) av Glass</a:t>
            </a:r>
          </a:p>
        </p:txBody>
      </p:sp>
      <p:sp>
        <p:nvSpPr>
          <p:cNvPr id="3" name="Kod"/>
          <p:cNvSpPr/>
          <p:nvPr/>
        </p:nvSpPr>
        <p:spPr>
          <a:xfrm>
            <a:off x="1207008" y="868680"/>
            <a:ext cx="6172200" cy="37043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274320" tIns="201168" rIns="274320" bIns="201168" anchor="t" rtlCol="0">
            <a:noAutofit/>
          </a:bodyPr>
          <a:lstStyle/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2E6FDB"/>
                </a:solidFill>
                <a:latin typeface="Courier New"/>
                <a:cs typeface="Courier New"/>
              </a:rPr>
              <a:t>int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C0761B"/>
                </a:solidFill>
                <a:latin typeface="Courier New"/>
                <a:cs typeface="Courier New"/>
              </a:rPr>
              <a:t>main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{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400" dirty="0">
                <a:solidFill>
                  <a:srgbClr val="2E6FDB"/>
                </a:solidFill>
                <a:latin typeface="Courier New"/>
                <a:cs typeface="Courier New"/>
              </a:rPr>
              <a:t>Glass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glass1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F9A3E"/>
                </a:solidFill>
                <a:latin typeface="Courier New"/>
                <a:cs typeface="Courier New"/>
              </a:rPr>
              <a:t>"Choklad"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,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B26B00"/>
                </a:solidFill>
                <a:latin typeface="Courier New"/>
                <a:cs typeface="Courier New"/>
              </a:rPr>
              <a:t>2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400" dirty="0">
                <a:solidFill>
                  <a:srgbClr val="2E6FDB"/>
                </a:solidFill>
                <a:latin typeface="Courier New"/>
                <a:cs typeface="Courier New"/>
              </a:rPr>
              <a:t>Glass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glass2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F9A3E"/>
                </a:solidFill>
                <a:latin typeface="Courier New"/>
                <a:cs typeface="Courier New"/>
              </a:rPr>
              <a:t>"Jordgubb"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,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B26B00"/>
                </a:solidFill>
                <a:latin typeface="Courier New"/>
                <a:cs typeface="Courier New"/>
              </a:rPr>
              <a:t>3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400" dirty="0">
                <a:solidFill>
                  <a:srgbClr val="2E6FDB"/>
                </a:solidFill>
                <a:latin typeface="Courier New"/>
                <a:cs typeface="Courier New"/>
              </a:rPr>
              <a:t>Glass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glass3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F9A3E"/>
                </a:solidFill>
                <a:latin typeface="Courier New"/>
                <a:cs typeface="Courier New"/>
              </a:rPr>
              <a:t>"Vanilj"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,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B26B00"/>
                </a:solidFill>
                <a:latin typeface="Courier New"/>
                <a:cs typeface="Courier New"/>
              </a:rPr>
              <a:t>1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glass1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400" dirty="0">
                <a:solidFill>
                  <a:srgbClr val="C0761B"/>
                </a:solidFill>
                <a:latin typeface="Courier New"/>
                <a:cs typeface="Courier New"/>
              </a:rPr>
              <a:t>beskriv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glass2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400" dirty="0">
                <a:solidFill>
                  <a:srgbClr val="C0761B"/>
                </a:solidFill>
                <a:latin typeface="Courier New"/>
                <a:cs typeface="Courier New"/>
              </a:rPr>
              <a:t>beskriv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glass3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kulor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B26B00"/>
                </a:solidFill>
                <a:latin typeface="Courier New"/>
                <a:cs typeface="Courier New"/>
              </a:rPr>
              <a:t>2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</a:t>
            </a:r>
            <a:r>
              <a:rPr lang="sv-SE" sz="1400" i="1" dirty="0">
                <a:solidFill>
                  <a:srgbClr val="8A8F98"/>
                </a:solidFill>
                <a:latin typeface="Courier New"/>
                <a:cs typeface="Courier New"/>
              </a:rPr>
              <a:t>// ändra en egenskap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glass3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400" dirty="0">
                <a:solidFill>
                  <a:srgbClr val="C0761B"/>
                </a:solidFill>
                <a:latin typeface="Courier New"/>
                <a:cs typeface="Courier New"/>
              </a:rPr>
              <a:t>beskriv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400" dirty="0">
                <a:solidFill>
                  <a:srgbClr val="A626A4"/>
                </a:solidFill>
                <a:latin typeface="Courier New"/>
                <a:cs typeface="Courier New"/>
              </a:rPr>
              <a:t>return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B26B00"/>
                </a:solidFill>
                <a:latin typeface="Courier New"/>
                <a:cs typeface="Courier New"/>
              </a:rPr>
              <a:t>0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}</a:t>
            </a:r>
            <a:endParaRPr lang="sv-SE" sz="1400" dirty="0"/>
          </a:p>
        </p:txBody>
      </p:sp>
      <p:sp>
        <p:nvSpPr>
          <p:cNvPr id="4" name="Utskrift"/>
          <p:cNvSpPr/>
          <p:nvPr/>
        </p:nvSpPr>
        <p:spPr>
          <a:xfrm>
            <a:off x="1207008" y="4847336"/>
            <a:ext cx="6172200" cy="1511808"/>
          </a:xfrm>
          <a:prstGeom prst="roundRect">
            <a:avLst>
              <a:gd name="adj" fmla="val 5000"/>
            </a:avLst>
          </a:prstGeom>
          <a:solidFill>
            <a:srgbClr val="2A1A00"/>
          </a:solidFill>
          <a:ln>
            <a:noFill/>
          </a:ln>
        </p:spPr>
        <p:txBody>
          <a:bodyPr wrap="square" lIns="274320" tIns="182880" rIns="274320" bIns="18288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sv-SE" sz="1100" b="1" dirty="0">
                <a:solidFill>
                  <a:srgbClr val="F8B323"/>
                </a:solidFill>
              </a:rPr>
              <a:t>Utskrift i konsolen</a:t>
            </a:r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F3F3F2"/>
                </a:solidFill>
                <a:latin typeface="Courier New"/>
                <a:cs typeface="Courier New"/>
              </a:rPr>
              <a:t>Choklad: 2 kulor, 30 kr</a:t>
            </a:r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F3F3F2"/>
                </a:solidFill>
                <a:latin typeface="Courier New"/>
                <a:cs typeface="Courier New"/>
              </a:rPr>
              <a:t>Jordgubb: 3 kulor, 45 kr</a:t>
            </a:r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F3F3F2"/>
                </a:solidFill>
                <a:latin typeface="Courier New"/>
                <a:cs typeface="Courier New"/>
              </a:rPr>
              <a:t>Vanilj: 2 kulor, 30 kr</a:t>
            </a:r>
          </a:p>
        </p:txBody>
      </p:sp>
      <p:sp>
        <p:nvSpPr>
          <p:cNvPr id="5" name="Markering 1"/>
          <p:cNvSpPr/>
          <p:nvPr/>
        </p:nvSpPr>
        <p:spPr>
          <a:xfrm>
            <a:off x="7680960" y="996696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1</a:t>
            </a:r>
          </a:p>
        </p:txBody>
      </p:sp>
      <p:sp>
        <p:nvSpPr>
          <p:cNvPr id="6" name="Punkt 1"/>
          <p:cNvSpPr txBox="1"/>
          <p:nvPr/>
        </p:nvSpPr>
        <p:spPr>
          <a:xfrm>
            <a:off x="8138160" y="960120"/>
            <a:ext cx="3611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</a:rPr>
              <a:t>Skapa en instans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Glass glass1("Choklad", 2); anropar konstruktorn med värdena.</a:t>
            </a:r>
          </a:p>
        </p:txBody>
      </p:sp>
      <p:sp>
        <p:nvSpPr>
          <p:cNvPr id="7" name="Markering 2"/>
          <p:cNvSpPr/>
          <p:nvPr/>
        </p:nvSpPr>
        <p:spPr>
          <a:xfrm>
            <a:off x="7680960" y="2322576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2</a:t>
            </a:r>
          </a:p>
        </p:txBody>
      </p:sp>
      <p:sp>
        <p:nvSpPr>
          <p:cNvPr id="8" name="Punkt 2"/>
          <p:cNvSpPr txBox="1"/>
          <p:nvPr/>
        </p:nvSpPr>
        <p:spPr>
          <a:xfrm>
            <a:off x="8138160" y="2286000"/>
            <a:ext cx="3611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</a:rPr>
              <a:t>Punktnotation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glass1.beskriv() anropar en metod och glass3.kulor läser eller ändrar en egenskap.</a:t>
            </a:r>
          </a:p>
        </p:txBody>
      </p:sp>
      <p:sp>
        <p:nvSpPr>
          <p:cNvPr id="9" name="Markering 3"/>
          <p:cNvSpPr/>
          <p:nvPr/>
        </p:nvSpPr>
        <p:spPr>
          <a:xfrm>
            <a:off x="7680960" y="3648456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3</a:t>
            </a:r>
          </a:p>
        </p:txBody>
      </p:sp>
      <p:sp>
        <p:nvSpPr>
          <p:cNvPr id="10" name="Punkt 3"/>
          <p:cNvSpPr txBox="1"/>
          <p:nvPr/>
        </p:nvSpPr>
        <p:spPr>
          <a:xfrm>
            <a:off x="8138160" y="3611880"/>
            <a:ext cx="3611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</a:rPr>
              <a:t>Egna värden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Varje objekt har sina egna värden. När vi ändrar glass3 påverkas inte glass1.</a:t>
            </a:r>
          </a:p>
        </p:txBody>
      </p:sp>
      <p:sp>
        <p:nvSpPr>
          <p:cNvPr id="11" name="Strut"/>
          <p:cNvSpPr/>
          <p:nvPr/>
        </p:nvSpPr>
        <p:spPr>
          <a:xfrm flipV="1">
            <a:off x="8241030" y="5564124"/>
            <a:ext cx="342900" cy="425196"/>
          </a:xfrm>
          <a:prstGeom prst="triangle">
            <a:avLst/>
          </a:prstGeom>
          <a:solidFill>
            <a:srgbClr val="D9A25F"/>
          </a:solidFill>
          <a:ln w="12700">
            <a:solidFill>
              <a:srgbClr val="B7803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2" name="Kula 1"/>
          <p:cNvSpPr/>
          <p:nvPr/>
        </p:nvSpPr>
        <p:spPr>
          <a:xfrm>
            <a:off x="8254746" y="5336987"/>
            <a:ext cx="315468" cy="315468"/>
          </a:xfrm>
          <a:prstGeom prst="ellipse">
            <a:avLst/>
          </a:prstGeom>
          <a:solidFill>
            <a:srgbClr val="6B3E26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3" name="Kula 2"/>
          <p:cNvSpPr/>
          <p:nvPr/>
        </p:nvSpPr>
        <p:spPr>
          <a:xfrm>
            <a:off x="8254746" y="5141397"/>
            <a:ext cx="315468" cy="315468"/>
          </a:xfrm>
          <a:prstGeom prst="ellipse">
            <a:avLst/>
          </a:prstGeom>
          <a:solidFill>
            <a:srgbClr val="6B3E26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4" name="Etikett glass1"/>
          <p:cNvSpPr txBox="1"/>
          <p:nvPr/>
        </p:nvSpPr>
        <p:spPr>
          <a:xfrm>
            <a:off x="7818120" y="60350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100" dirty="0">
                <a:solidFill>
                  <a:srgbClr val="6B6B6B"/>
                </a:solidFill>
                <a:latin typeface="Courier New"/>
                <a:cs typeface="Courier New"/>
              </a:rPr>
              <a:t>glass1</a:t>
            </a:r>
          </a:p>
        </p:txBody>
      </p:sp>
      <p:sp>
        <p:nvSpPr>
          <p:cNvPr id="15" name="Strut"/>
          <p:cNvSpPr/>
          <p:nvPr/>
        </p:nvSpPr>
        <p:spPr>
          <a:xfrm flipV="1">
            <a:off x="9521190" y="5564124"/>
            <a:ext cx="342900" cy="425196"/>
          </a:xfrm>
          <a:prstGeom prst="triangle">
            <a:avLst/>
          </a:prstGeom>
          <a:solidFill>
            <a:srgbClr val="D9A25F"/>
          </a:solidFill>
          <a:ln w="12700">
            <a:solidFill>
              <a:srgbClr val="B7803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6" name="Kula 1"/>
          <p:cNvSpPr/>
          <p:nvPr/>
        </p:nvSpPr>
        <p:spPr>
          <a:xfrm>
            <a:off x="9534906" y="5336987"/>
            <a:ext cx="315468" cy="315468"/>
          </a:xfrm>
          <a:prstGeom prst="ellipse">
            <a:avLst/>
          </a:prstGeom>
          <a:solidFill>
            <a:srgbClr val="F29CB3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7" name="Kula 2"/>
          <p:cNvSpPr/>
          <p:nvPr/>
        </p:nvSpPr>
        <p:spPr>
          <a:xfrm>
            <a:off x="9534906" y="5141397"/>
            <a:ext cx="315468" cy="315468"/>
          </a:xfrm>
          <a:prstGeom prst="ellipse">
            <a:avLst/>
          </a:prstGeom>
          <a:solidFill>
            <a:srgbClr val="F29CB3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8" name="Kula 3"/>
          <p:cNvSpPr/>
          <p:nvPr/>
        </p:nvSpPr>
        <p:spPr>
          <a:xfrm>
            <a:off x="9534906" y="4945807"/>
            <a:ext cx="315468" cy="315468"/>
          </a:xfrm>
          <a:prstGeom prst="ellipse">
            <a:avLst/>
          </a:prstGeom>
          <a:solidFill>
            <a:srgbClr val="F29CB3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9" name="Etikett glass2"/>
          <p:cNvSpPr txBox="1"/>
          <p:nvPr/>
        </p:nvSpPr>
        <p:spPr>
          <a:xfrm>
            <a:off x="9098280" y="60350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100" dirty="0">
                <a:solidFill>
                  <a:srgbClr val="6B6B6B"/>
                </a:solidFill>
                <a:latin typeface="Courier New"/>
                <a:cs typeface="Courier New"/>
              </a:rPr>
              <a:t>glass2</a:t>
            </a:r>
          </a:p>
        </p:txBody>
      </p:sp>
      <p:sp>
        <p:nvSpPr>
          <p:cNvPr id="20" name="Strut"/>
          <p:cNvSpPr/>
          <p:nvPr/>
        </p:nvSpPr>
        <p:spPr>
          <a:xfrm flipV="1">
            <a:off x="10801350" y="5564124"/>
            <a:ext cx="342900" cy="425196"/>
          </a:xfrm>
          <a:prstGeom prst="triangle">
            <a:avLst/>
          </a:prstGeom>
          <a:solidFill>
            <a:srgbClr val="D9A25F"/>
          </a:solidFill>
          <a:ln w="12700">
            <a:solidFill>
              <a:srgbClr val="B7803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21" name="Kula 1"/>
          <p:cNvSpPr/>
          <p:nvPr/>
        </p:nvSpPr>
        <p:spPr>
          <a:xfrm>
            <a:off x="10815066" y="5336987"/>
            <a:ext cx="315468" cy="315468"/>
          </a:xfrm>
          <a:prstGeom prst="ellipse">
            <a:avLst/>
          </a:prstGeom>
          <a:solidFill>
            <a:srgbClr val="F6E7B8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22" name="Kula 2"/>
          <p:cNvSpPr/>
          <p:nvPr/>
        </p:nvSpPr>
        <p:spPr>
          <a:xfrm>
            <a:off x="10815066" y="5141397"/>
            <a:ext cx="315468" cy="315468"/>
          </a:xfrm>
          <a:prstGeom prst="ellipse">
            <a:avLst/>
          </a:prstGeom>
          <a:solidFill>
            <a:srgbClr val="F6E7B8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23" name="Etikett glass3"/>
          <p:cNvSpPr txBox="1"/>
          <p:nvPr/>
        </p:nvSpPr>
        <p:spPr>
          <a:xfrm>
            <a:off x="10378440" y="60350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100" dirty="0">
                <a:solidFill>
                  <a:srgbClr val="6B6B6B"/>
                </a:solidFill>
                <a:latin typeface="Courier New"/>
                <a:cs typeface="Courier New"/>
              </a:rPr>
              <a:t>glass3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916208_Getting to know your teacher_RVA_v2" id="{9D60EAE5-D0A0-4E9F-AE23-1B333D14ABD6}" vid="{DD8DD7D2-976B-4092-A04B-0CF2FAEFF7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0FF52724AC48D47B010AA362D489A4D" ma:contentTypeVersion="0" ma:contentTypeDescription="Skapa ett nytt dokument." ma:contentTypeScope="" ma:versionID="fbd70824283940ea0b15ba881b9ff88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a658d11712873d45d049e4e4d5765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0489F5-0CD1-4209-9233-965B9732F0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2D0167F-E486-4F9B-83E2-993954E11F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B3E54F-9BB9-4821-81E3-A4EFEC7BD0AD}">
  <ds:schemaRefs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1717</Words>
  <Application>Microsoft Office PowerPoint</Application>
  <PresentationFormat>Widescreen</PresentationFormat>
  <Paragraphs>284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Bodoni MT</vt:lpstr>
      <vt:lpstr>Calibri</vt:lpstr>
      <vt:lpstr>Gill Sans MT</vt:lpstr>
      <vt:lpstr>Impact</vt:lpstr>
      <vt:lpstr>Times New Roman</vt:lpstr>
      <vt:lpstr>Badge</vt:lpstr>
      <vt:lpstr>C++</vt:lpstr>
      <vt:lpstr>Innehåll</vt:lpstr>
      <vt:lpstr>Variabler</vt:lpstr>
      <vt:lpstr>Variabler forts.</vt:lpstr>
      <vt:lpstr>Datatyper</vt:lpstr>
      <vt:lpstr>Operatorer</vt:lpstr>
      <vt:lpstr>JAmförelser</vt:lpstr>
      <vt:lpstr>If-satser</vt:lpstr>
      <vt:lpstr>If-satser Forts.</vt:lpstr>
      <vt:lpstr>Loopar: while</vt:lpstr>
      <vt:lpstr>Loopar: For</vt:lpstr>
      <vt:lpstr>Switch-satsen</vt:lpstr>
      <vt:lpstr>Funktioner</vt:lpstr>
      <vt:lpstr>Funktioner FORTS.</vt:lpstr>
      <vt:lpstr>Funktioner FORTS.</vt:lpstr>
      <vt:lpstr>Klaser och Object</vt:lpstr>
      <vt:lpstr>Klaser och Object</vt:lpstr>
      <vt:lpstr>Array (Listor)</vt:lpstr>
      <vt:lpstr>FORTS(Listor)</vt:lpstr>
      <vt:lpstr>Metoder på Arrays (Listor)</vt:lpstr>
      <vt:lpstr>Slide Tite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2020-08-14T09:34:52Z</dcterms:created>
  <dcterms:modified xsi:type="dcterms:W3CDTF">2025-08-28T09:22:23Z</dcterms:modified>
</cp:coreProperties>
</file>