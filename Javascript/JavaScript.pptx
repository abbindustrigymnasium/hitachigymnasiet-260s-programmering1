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4"/>
  </p:sldMasterIdLst>
  <p:notesMasterIdLst>
    <p:notesMasterId r:id="rId26"/>
  </p:notesMasterIdLst>
  <p:handoutMasterIdLst>
    <p:handoutMasterId r:id="rId27"/>
  </p:handoutMasterIdLst>
  <p:sldIdLst>
    <p:sldId id="256" r:id="rId5"/>
    <p:sldId id="262" r:id="rId6"/>
    <p:sldId id="266" r:id="rId7"/>
    <p:sldId id="257" r:id="rId8"/>
    <p:sldId id="267" r:id="rId9"/>
    <p:sldId id="268" r:id="rId10"/>
    <p:sldId id="269" r:id="rId11"/>
    <p:sldId id="271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7" r:id="rId33"/>
    <p:sldId id="288" r:id="rId34"/>
    <p:sldId id="289" r:id="rId35"/>
    <p:sldId id="283" r:id="rId22"/>
    <p:sldId id="284" r:id="rId23"/>
    <p:sldId id="286" r:id="rId24"/>
    <p:sldId id="265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CB3411-CC2A-4460-B421-30F424536C49}" v="103" dt="2020-08-10T13:06:01.5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5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2424" y="48"/>
      </p:cViewPr>
      <p:guideLst/>
    </p:cSldViewPr>
  </p:notes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  <Relationship Id="rId33" Type="http://schemas.openxmlformats.org/officeDocument/2006/relationships/slide" Target="slides/slide22.xml"/>
  <Relationship Id="rId34" Type="http://schemas.openxmlformats.org/officeDocument/2006/relationships/slide" Target="slides/slide23.xml"/>
  <Relationship Id="rId35" Type="http://schemas.openxmlformats.org/officeDocument/2006/relationships/slide" Target="slides/slide24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6C3D2F-5A05-4596-A225-FC14565701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9C051B-F26C-4470-B56C-092B4E1C4CF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E9A1B5-1BE4-4CD6-80C4-143959F034D3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59DB8B-3A1C-4291-8A97-C19C5D31C3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6310B9-42FE-4FE9-8C0B-5C7382DBB0E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CFFF0-B784-4FE7-8A38-F89DE294F8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669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E6120A-21AF-4F12-ABAA-66A70823631B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8C672F-171E-46DC-915C-C7BCF99F5C4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498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Stora och små bokstäver har betydelse och är olika variabler.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Använd meningsfulla namn på variablerna: inte x och y utan </a:t>
            </a:r>
            <a:r>
              <a:rPr lang="sv-SE" dirty="0" err="1"/>
              <a:t>name</a:t>
            </a:r>
            <a:r>
              <a:rPr lang="sv-SE" dirty="0"/>
              <a:t>, </a:t>
            </a:r>
            <a:r>
              <a:rPr lang="sv-SE" dirty="0" err="1"/>
              <a:t>user</a:t>
            </a:r>
            <a:r>
              <a:rPr lang="sv-SE" dirty="0"/>
              <a:t> osv.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11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Stora och små bokstäver har betydelse och är olika variabler.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Använd meningsfulla namn på variablerna: inte x och y utan </a:t>
            </a:r>
            <a:r>
              <a:rPr lang="sv-SE" dirty="0" err="1"/>
              <a:t>name</a:t>
            </a:r>
            <a:r>
              <a:rPr lang="sv-SE" dirty="0"/>
              <a:t>, </a:t>
            </a:r>
            <a:r>
              <a:rPr lang="sv-SE" dirty="0" err="1"/>
              <a:t>user</a:t>
            </a:r>
            <a:r>
              <a:rPr lang="sv-SE" dirty="0"/>
              <a:t> osv.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021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Stora och små bokstäver har betydelse och är olika variabler.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Använd meningsfulla namn på variablerna: inte x och y utan </a:t>
            </a:r>
            <a:r>
              <a:rPr lang="sv-SE" dirty="0" err="1"/>
              <a:t>name</a:t>
            </a:r>
            <a:r>
              <a:rPr lang="sv-SE" dirty="0"/>
              <a:t>, </a:t>
            </a:r>
            <a:r>
              <a:rPr lang="sv-SE" dirty="0" err="1"/>
              <a:t>user</a:t>
            </a:r>
            <a:r>
              <a:rPr lang="sv-SE" dirty="0"/>
              <a:t> osv.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103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Stora och små bokstäver har betydelse och är olika variabler.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Använd meningsfulla namn på variablerna: inte x och y utan </a:t>
            </a:r>
            <a:r>
              <a:rPr lang="sv-SE" dirty="0" err="1"/>
              <a:t>name</a:t>
            </a:r>
            <a:r>
              <a:rPr lang="sv-SE" dirty="0"/>
              <a:t>, </a:t>
            </a:r>
            <a:r>
              <a:rPr lang="sv-SE" dirty="0" err="1"/>
              <a:t>user</a:t>
            </a:r>
            <a:r>
              <a:rPr lang="sv-SE" dirty="0"/>
              <a:t> osv.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731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467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3221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73517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7610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2141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73036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87885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569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8688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3698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82686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3771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dirty="0"/>
              <a:t>Ibland måste vi utföra olika åtgärder baserade på olika förhållanden.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8C672F-171E-46DC-915C-C7BCF99F5C4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158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05246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9611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131944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02744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3235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935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351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88637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3837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219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3596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F63B152-7103-4FFE-90AC-D94EB7F44A7E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299DD5A9-4EF1-497E-92EF-2D23CF305E0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18072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188DD-3717-47D0-B979-D111D81B46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/>
          <a:lstStyle/>
          <a:p>
            <a:r>
              <a:rPr lang="en-US" dirty="0">
                <a:latin typeface="Bodoni MT" panose="02070603080606020203" pitchFamily="18" charset="0"/>
              </a:rPr>
              <a:t>JavaScript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FBFC-5564-4D5D-8F01-C829B7B40C08}"/>
              </a:ext>
            </a:extLst>
          </p:cNvPr>
          <p:cNvSpPr txBox="1"/>
          <p:nvPr/>
        </p:nvSpPr>
        <p:spPr>
          <a:xfrm>
            <a:off x="1983828" y="6043352"/>
            <a:ext cx="8224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Programmering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– Jeton Mustini</a:t>
            </a:r>
          </a:p>
        </p:txBody>
      </p:sp>
    </p:spTree>
    <p:extLst>
      <p:ext uri="{BB962C8B-B14F-4D97-AF65-F5344CB8AC3E}">
        <p14:creationId xmlns:p14="http://schemas.microsoft.com/office/powerpoint/2010/main" val="1957017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>
            <a:extLst>
              <a:ext uri="{FF2B5EF4-FFF2-40B4-BE49-F238E27FC236}">
                <a16:creationId xmlns:a16="http://schemas.microsoft.com/office/drawing/2014/main" id="{06F0F283-C8B6-4598-89C9-C404C98A5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9">
            <a:extLst>
              <a:ext uri="{FF2B5EF4-FFF2-40B4-BE49-F238E27FC236}">
                <a16:creationId xmlns:a16="http://schemas.microsoft.com/office/drawing/2014/main" id="{E473B0C0-761B-443F-97A0-9D6E01FBB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-1" y="-2"/>
            <a:ext cx="6300250" cy="6858002"/>
          </a:xfrm>
          <a:custGeom>
            <a:avLst/>
            <a:gdLst>
              <a:gd name="connsiteX0" fmla="*/ 0 w 6300250"/>
              <a:gd name="connsiteY0" fmla="*/ 0 h 6858002"/>
              <a:gd name="connsiteX1" fmla="*/ 3149600 w 6300250"/>
              <a:gd name="connsiteY1" fmla="*/ 0 h 6858002"/>
              <a:gd name="connsiteX2" fmla="*/ 3149600 w 6300250"/>
              <a:gd name="connsiteY2" fmla="*/ 2 h 6858002"/>
              <a:gd name="connsiteX3" fmla="*/ 6110455 w 6300250"/>
              <a:gd name="connsiteY3" fmla="*/ 2 h 6858002"/>
              <a:gd name="connsiteX4" fmla="*/ 6115495 w 6300250"/>
              <a:gd name="connsiteY4" fmla="*/ 66677 h 6858002"/>
              <a:gd name="connsiteX5" fmla="*/ 6123892 w 6300250"/>
              <a:gd name="connsiteY5" fmla="*/ 122239 h 6858002"/>
              <a:gd name="connsiteX6" fmla="*/ 6133970 w 6300250"/>
              <a:gd name="connsiteY6" fmla="*/ 174627 h 6858002"/>
              <a:gd name="connsiteX7" fmla="*/ 6150766 w 6300250"/>
              <a:gd name="connsiteY7" fmla="*/ 217489 h 6858002"/>
              <a:gd name="connsiteX8" fmla="*/ 6167562 w 6300250"/>
              <a:gd name="connsiteY8" fmla="*/ 260352 h 6858002"/>
              <a:gd name="connsiteX9" fmla="*/ 6187717 w 6300250"/>
              <a:gd name="connsiteY9" fmla="*/ 296864 h 6858002"/>
              <a:gd name="connsiteX10" fmla="*/ 6207872 w 6300250"/>
              <a:gd name="connsiteY10" fmla="*/ 334964 h 6858002"/>
              <a:gd name="connsiteX11" fmla="*/ 6226348 w 6300250"/>
              <a:gd name="connsiteY11" fmla="*/ 369889 h 6858002"/>
              <a:gd name="connsiteX12" fmla="*/ 6244823 w 6300250"/>
              <a:gd name="connsiteY12" fmla="*/ 409577 h 6858002"/>
              <a:gd name="connsiteX13" fmla="*/ 6261619 w 6300250"/>
              <a:gd name="connsiteY13" fmla="*/ 450852 h 6858002"/>
              <a:gd name="connsiteX14" fmla="*/ 6276736 w 6300250"/>
              <a:gd name="connsiteY14" fmla="*/ 496889 h 6858002"/>
              <a:gd name="connsiteX15" fmla="*/ 6288493 w 6300250"/>
              <a:gd name="connsiteY15" fmla="*/ 546102 h 6858002"/>
              <a:gd name="connsiteX16" fmla="*/ 6296891 w 6300250"/>
              <a:gd name="connsiteY16" fmla="*/ 606427 h 6858002"/>
              <a:gd name="connsiteX17" fmla="*/ 6300250 w 6300250"/>
              <a:gd name="connsiteY17" fmla="*/ 673102 h 6858002"/>
              <a:gd name="connsiteX18" fmla="*/ 6296891 w 6300250"/>
              <a:gd name="connsiteY18" fmla="*/ 744539 h 6858002"/>
              <a:gd name="connsiteX19" fmla="*/ 6288493 w 6300250"/>
              <a:gd name="connsiteY19" fmla="*/ 801689 h 6858002"/>
              <a:gd name="connsiteX20" fmla="*/ 6276736 w 6300250"/>
              <a:gd name="connsiteY20" fmla="*/ 854077 h 6858002"/>
              <a:gd name="connsiteX21" fmla="*/ 6261619 w 6300250"/>
              <a:gd name="connsiteY21" fmla="*/ 901702 h 6858002"/>
              <a:gd name="connsiteX22" fmla="*/ 6244823 w 6300250"/>
              <a:gd name="connsiteY22" fmla="*/ 942977 h 6858002"/>
              <a:gd name="connsiteX23" fmla="*/ 6224668 w 6300250"/>
              <a:gd name="connsiteY23" fmla="*/ 981077 h 6858002"/>
              <a:gd name="connsiteX24" fmla="*/ 6204513 w 6300250"/>
              <a:gd name="connsiteY24" fmla="*/ 1017589 h 6858002"/>
              <a:gd name="connsiteX25" fmla="*/ 6184358 w 6300250"/>
              <a:gd name="connsiteY25" fmla="*/ 1055689 h 6858002"/>
              <a:gd name="connsiteX26" fmla="*/ 6165882 w 6300250"/>
              <a:gd name="connsiteY26" fmla="*/ 1095377 h 6858002"/>
              <a:gd name="connsiteX27" fmla="*/ 6147406 w 6300250"/>
              <a:gd name="connsiteY27" fmla="*/ 1136652 h 6858002"/>
              <a:gd name="connsiteX28" fmla="*/ 6132291 w 6300250"/>
              <a:gd name="connsiteY28" fmla="*/ 1182689 h 6858002"/>
              <a:gd name="connsiteX29" fmla="*/ 6122213 w 6300250"/>
              <a:gd name="connsiteY29" fmla="*/ 1235077 h 6858002"/>
              <a:gd name="connsiteX30" fmla="*/ 6112135 w 6300250"/>
              <a:gd name="connsiteY30" fmla="*/ 1295402 h 6858002"/>
              <a:gd name="connsiteX31" fmla="*/ 6110455 w 6300250"/>
              <a:gd name="connsiteY31" fmla="*/ 1363664 h 6858002"/>
              <a:gd name="connsiteX32" fmla="*/ 6112135 w 6300250"/>
              <a:gd name="connsiteY32" fmla="*/ 1431927 h 6858002"/>
              <a:gd name="connsiteX33" fmla="*/ 6122213 w 6300250"/>
              <a:gd name="connsiteY33" fmla="*/ 1492252 h 6858002"/>
              <a:gd name="connsiteX34" fmla="*/ 6132291 w 6300250"/>
              <a:gd name="connsiteY34" fmla="*/ 1544639 h 6858002"/>
              <a:gd name="connsiteX35" fmla="*/ 6147406 w 6300250"/>
              <a:gd name="connsiteY35" fmla="*/ 1589089 h 6858002"/>
              <a:gd name="connsiteX36" fmla="*/ 6165882 w 6300250"/>
              <a:gd name="connsiteY36" fmla="*/ 1631952 h 6858002"/>
              <a:gd name="connsiteX37" fmla="*/ 6184358 w 6300250"/>
              <a:gd name="connsiteY37" fmla="*/ 1671639 h 6858002"/>
              <a:gd name="connsiteX38" fmla="*/ 6204513 w 6300250"/>
              <a:gd name="connsiteY38" fmla="*/ 1708152 h 6858002"/>
              <a:gd name="connsiteX39" fmla="*/ 6224668 w 6300250"/>
              <a:gd name="connsiteY39" fmla="*/ 1743077 h 6858002"/>
              <a:gd name="connsiteX40" fmla="*/ 6244823 w 6300250"/>
              <a:gd name="connsiteY40" fmla="*/ 1782764 h 6858002"/>
              <a:gd name="connsiteX41" fmla="*/ 6261619 w 6300250"/>
              <a:gd name="connsiteY41" fmla="*/ 1824039 h 6858002"/>
              <a:gd name="connsiteX42" fmla="*/ 6276736 w 6300250"/>
              <a:gd name="connsiteY42" fmla="*/ 1870077 h 6858002"/>
              <a:gd name="connsiteX43" fmla="*/ 6288493 w 6300250"/>
              <a:gd name="connsiteY43" fmla="*/ 1922464 h 6858002"/>
              <a:gd name="connsiteX44" fmla="*/ 6296891 w 6300250"/>
              <a:gd name="connsiteY44" fmla="*/ 1982789 h 6858002"/>
              <a:gd name="connsiteX45" fmla="*/ 6300250 w 6300250"/>
              <a:gd name="connsiteY45" fmla="*/ 2051052 h 6858002"/>
              <a:gd name="connsiteX46" fmla="*/ 6296891 w 6300250"/>
              <a:gd name="connsiteY46" fmla="*/ 2119314 h 6858002"/>
              <a:gd name="connsiteX47" fmla="*/ 6288493 w 6300250"/>
              <a:gd name="connsiteY47" fmla="*/ 2179639 h 6858002"/>
              <a:gd name="connsiteX48" fmla="*/ 6276736 w 6300250"/>
              <a:gd name="connsiteY48" fmla="*/ 2232027 h 6858002"/>
              <a:gd name="connsiteX49" fmla="*/ 6261619 w 6300250"/>
              <a:gd name="connsiteY49" fmla="*/ 2278064 h 6858002"/>
              <a:gd name="connsiteX50" fmla="*/ 6244823 w 6300250"/>
              <a:gd name="connsiteY50" fmla="*/ 2319339 h 6858002"/>
              <a:gd name="connsiteX51" fmla="*/ 6224668 w 6300250"/>
              <a:gd name="connsiteY51" fmla="*/ 2359027 h 6858002"/>
              <a:gd name="connsiteX52" fmla="*/ 6204513 w 6300250"/>
              <a:gd name="connsiteY52" fmla="*/ 2395539 h 6858002"/>
              <a:gd name="connsiteX53" fmla="*/ 6184358 w 6300250"/>
              <a:gd name="connsiteY53" fmla="*/ 2433639 h 6858002"/>
              <a:gd name="connsiteX54" fmla="*/ 6165882 w 6300250"/>
              <a:gd name="connsiteY54" fmla="*/ 2471739 h 6858002"/>
              <a:gd name="connsiteX55" fmla="*/ 6147406 w 6300250"/>
              <a:gd name="connsiteY55" fmla="*/ 2513014 h 6858002"/>
              <a:gd name="connsiteX56" fmla="*/ 6132291 w 6300250"/>
              <a:gd name="connsiteY56" fmla="*/ 2560639 h 6858002"/>
              <a:gd name="connsiteX57" fmla="*/ 6122213 w 6300250"/>
              <a:gd name="connsiteY57" fmla="*/ 2613027 h 6858002"/>
              <a:gd name="connsiteX58" fmla="*/ 6112135 w 6300250"/>
              <a:gd name="connsiteY58" fmla="*/ 2671764 h 6858002"/>
              <a:gd name="connsiteX59" fmla="*/ 6110455 w 6300250"/>
              <a:gd name="connsiteY59" fmla="*/ 2741614 h 6858002"/>
              <a:gd name="connsiteX60" fmla="*/ 6112135 w 6300250"/>
              <a:gd name="connsiteY60" fmla="*/ 2809877 h 6858002"/>
              <a:gd name="connsiteX61" fmla="*/ 6122213 w 6300250"/>
              <a:gd name="connsiteY61" fmla="*/ 2868614 h 6858002"/>
              <a:gd name="connsiteX62" fmla="*/ 6132291 w 6300250"/>
              <a:gd name="connsiteY62" fmla="*/ 2922589 h 6858002"/>
              <a:gd name="connsiteX63" fmla="*/ 6147406 w 6300250"/>
              <a:gd name="connsiteY63" fmla="*/ 2967039 h 6858002"/>
              <a:gd name="connsiteX64" fmla="*/ 6165882 w 6300250"/>
              <a:gd name="connsiteY64" fmla="*/ 3009902 h 6858002"/>
              <a:gd name="connsiteX65" fmla="*/ 6184358 w 6300250"/>
              <a:gd name="connsiteY65" fmla="*/ 3046414 h 6858002"/>
              <a:gd name="connsiteX66" fmla="*/ 6204513 w 6300250"/>
              <a:gd name="connsiteY66" fmla="*/ 3084514 h 6858002"/>
              <a:gd name="connsiteX67" fmla="*/ 6224668 w 6300250"/>
              <a:gd name="connsiteY67" fmla="*/ 3121027 h 6858002"/>
              <a:gd name="connsiteX68" fmla="*/ 6244823 w 6300250"/>
              <a:gd name="connsiteY68" fmla="*/ 3160714 h 6858002"/>
              <a:gd name="connsiteX69" fmla="*/ 6261619 w 6300250"/>
              <a:gd name="connsiteY69" fmla="*/ 3201989 h 6858002"/>
              <a:gd name="connsiteX70" fmla="*/ 6276736 w 6300250"/>
              <a:gd name="connsiteY70" fmla="*/ 3248027 h 6858002"/>
              <a:gd name="connsiteX71" fmla="*/ 6288493 w 6300250"/>
              <a:gd name="connsiteY71" fmla="*/ 3300414 h 6858002"/>
              <a:gd name="connsiteX72" fmla="*/ 6296891 w 6300250"/>
              <a:gd name="connsiteY72" fmla="*/ 3360739 h 6858002"/>
              <a:gd name="connsiteX73" fmla="*/ 6300250 w 6300250"/>
              <a:gd name="connsiteY73" fmla="*/ 3427414 h 6858002"/>
              <a:gd name="connsiteX74" fmla="*/ 6296891 w 6300250"/>
              <a:gd name="connsiteY74" fmla="*/ 3497264 h 6858002"/>
              <a:gd name="connsiteX75" fmla="*/ 6288493 w 6300250"/>
              <a:gd name="connsiteY75" fmla="*/ 3557589 h 6858002"/>
              <a:gd name="connsiteX76" fmla="*/ 6276736 w 6300250"/>
              <a:gd name="connsiteY76" fmla="*/ 3609977 h 6858002"/>
              <a:gd name="connsiteX77" fmla="*/ 6261619 w 6300250"/>
              <a:gd name="connsiteY77" fmla="*/ 3656014 h 6858002"/>
              <a:gd name="connsiteX78" fmla="*/ 6244823 w 6300250"/>
              <a:gd name="connsiteY78" fmla="*/ 3697289 h 6858002"/>
              <a:gd name="connsiteX79" fmla="*/ 6224668 w 6300250"/>
              <a:gd name="connsiteY79" fmla="*/ 3736977 h 6858002"/>
              <a:gd name="connsiteX80" fmla="*/ 6184358 w 6300250"/>
              <a:gd name="connsiteY80" fmla="*/ 3811589 h 6858002"/>
              <a:gd name="connsiteX81" fmla="*/ 6165882 w 6300250"/>
              <a:gd name="connsiteY81" fmla="*/ 3848102 h 6858002"/>
              <a:gd name="connsiteX82" fmla="*/ 6147406 w 6300250"/>
              <a:gd name="connsiteY82" fmla="*/ 3890964 h 6858002"/>
              <a:gd name="connsiteX83" fmla="*/ 6132291 w 6300250"/>
              <a:gd name="connsiteY83" fmla="*/ 3935414 h 6858002"/>
              <a:gd name="connsiteX84" fmla="*/ 6122213 w 6300250"/>
              <a:gd name="connsiteY84" fmla="*/ 3987802 h 6858002"/>
              <a:gd name="connsiteX85" fmla="*/ 6112135 w 6300250"/>
              <a:gd name="connsiteY85" fmla="*/ 4048127 h 6858002"/>
              <a:gd name="connsiteX86" fmla="*/ 6110455 w 6300250"/>
              <a:gd name="connsiteY86" fmla="*/ 4116389 h 6858002"/>
              <a:gd name="connsiteX87" fmla="*/ 6112135 w 6300250"/>
              <a:gd name="connsiteY87" fmla="*/ 4186239 h 6858002"/>
              <a:gd name="connsiteX88" fmla="*/ 6122213 w 6300250"/>
              <a:gd name="connsiteY88" fmla="*/ 4244977 h 6858002"/>
              <a:gd name="connsiteX89" fmla="*/ 6132291 w 6300250"/>
              <a:gd name="connsiteY89" fmla="*/ 4297364 h 6858002"/>
              <a:gd name="connsiteX90" fmla="*/ 6147406 w 6300250"/>
              <a:gd name="connsiteY90" fmla="*/ 4343402 h 6858002"/>
              <a:gd name="connsiteX91" fmla="*/ 6165882 w 6300250"/>
              <a:gd name="connsiteY91" fmla="*/ 4386264 h 6858002"/>
              <a:gd name="connsiteX92" fmla="*/ 6184358 w 6300250"/>
              <a:gd name="connsiteY92" fmla="*/ 4424364 h 6858002"/>
              <a:gd name="connsiteX93" fmla="*/ 6224668 w 6300250"/>
              <a:gd name="connsiteY93" fmla="*/ 4498977 h 6858002"/>
              <a:gd name="connsiteX94" fmla="*/ 6244823 w 6300250"/>
              <a:gd name="connsiteY94" fmla="*/ 4537077 h 6858002"/>
              <a:gd name="connsiteX95" fmla="*/ 6261619 w 6300250"/>
              <a:gd name="connsiteY95" fmla="*/ 4579939 h 6858002"/>
              <a:gd name="connsiteX96" fmla="*/ 6276736 w 6300250"/>
              <a:gd name="connsiteY96" fmla="*/ 4625977 h 6858002"/>
              <a:gd name="connsiteX97" fmla="*/ 6288493 w 6300250"/>
              <a:gd name="connsiteY97" fmla="*/ 4678364 h 6858002"/>
              <a:gd name="connsiteX98" fmla="*/ 6296891 w 6300250"/>
              <a:gd name="connsiteY98" fmla="*/ 4738689 h 6858002"/>
              <a:gd name="connsiteX99" fmla="*/ 6300250 w 6300250"/>
              <a:gd name="connsiteY99" fmla="*/ 4806952 h 6858002"/>
              <a:gd name="connsiteX100" fmla="*/ 6296891 w 6300250"/>
              <a:gd name="connsiteY100" fmla="*/ 4875214 h 6858002"/>
              <a:gd name="connsiteX101" fmla="*/ 6288493 w 6300250"/>
              <a:gd name="connsiteY101" fmla="*/ 4935539 h 6858002"/>
              <a:gd name="connsiteX102" fmla="*/ 6276736 w 6300250"/>
              <a:gd name="connsiteY102" fmla="*/ 4987927 h 6858002"/>
              <a:gd name="connsiteX103" fmla="*/ 6261619 w 6300250"/>
              <a:gd name="connsiteY103" fmla="*/ 5033964 h 6858002"/>
              <a:gd name="connsiteX104" fmla="*/ 6244823 w 6300250"/>
              <a:gd name="connsiteY104" fmla="*/ 5075239 h 6858002"/>
              <a:gd name="connsiteX105" fmla="*/ 6224668 w 6300250"/>
              <a:gd name="connsiteY105" fmla="*/ 5114927 h 6858002"/>
              <a:gd name="connsiteX106" fmla="*/ 6204513 w 6300250"/>
              <a:gd name="connsiteY106" fmla="*/ 5149852 h 6858002"/>
              <a:gd name="connsiteX107" fmla="*/ 6184358 w 6300250"/>
              <a:gd name="connsiteY107" fmla="*/ 5186364 h 6858002"/>
              <a:gd name="connsiteX108" fmla="*/ 6165882 w 6300250"/>
              <a:gd name="connsiteY108" fmla="*/ 5226052 h 6858002"/>
              <a:gd name="connsiteX109" fmla="*/ 6147406 w 6300250"/>
              <a:gd name="connsiteY109" fmla="*/ 5268914 h 6858002"/>
              <a:gd name="connsiteX110" fmla="*/ 6132291 w 6300250"/>
              <a:gd name="connsiteY110" fmla="*/ 5313364 h 6858002"/>
              <a:gd name="connsiteX111" fmla="*/ 6122213 w 6300250"/>
              <a:gd name="connsiteY111" fmla="*/ 5365752 h 6858002"/>
              <a:gd name="connsiteX112" fmla="*/ 6112135 w 6300250"/>
              <a:gd name="connsiteY112" fmla="*/ 5426077 h 6858002"/>
              <a:gd name="connsiteX113" fmla="*/ 6110455 w 6300250"/>
              <a:gd name="connsiteY113" fmla="*/ 5494339 h 6858002"/>
              <a:gd name="connsiteX114" fmla="*/ 6112135 w 6300250"/>
              <a:gd name="connsiteY114" fmla="*/ 5562602 h 6858002"/>
              <a:gd name="connsiteX115" fmla="*/ 6122213 w 6300250"/>
              <a:gd name="connsiteY115" fmla="*/ 5622927 h 6858002"/>
              <a:gd name="connsiteX116" fmla="*/ 6132291 w 6300250"/>
              <a:gd name="connsiteY116" fmla="*/ 5675314 h 6858002"/>
              <a:gd name="connsiteX117" fmla="*/ 6147406 w 6300250"/>
              <a:gd name="connsiteY117" fmla="*/ 5721352 h 6858002"/>
              <a:gd name="connsiteX118" fmla="*/ 6165882 w 6300250"/>
              <a:gd name="connsiteY118" fmla="*/ 5762627 h 6858002"/>
              <a:gd name="connsiteX119" fmla="*/ 6184358 w 6300250"/>
              <a:gd name="connsiteY119" fmla="*/ 5802314 h 6858002"/>
              <a:gd name="connsiteX120" fmla="*/ 6204513 w 6300250"/>
              <a:gd name="connsiteY120" fmla="*/ 5840414 h 6858002"/>
              <a:gd name="connsiteX121" fmla="*/ 6224668 w 6300250"/>
              <a:gd name="connsiteY121" fmla="*/ 5876927 h 6858002"/>
              <a:gd name="connsiteX122" fmla="*/ 6244823 w 6300250"/>
              <a:gd name="connsiteY122" fmla="*/ 5915027 h 6858002"/>
              <a:gd name="connsiteX123" fmla="*/ 6261619 w 6300250"/>
              <a:gd name="connsiteY123" fmla="*/ 5956302 h 6858002"/>
              <a:gd name="connsiteX124" fmla="*/ 6276736 w 6300250"/>
              <a:gd name="connsiteY124" fmla="*/ 6003927 h 6858002"/>
              <a:gd name="connsiteX125" fmla="*/ 6288493 w 6300250"/>
              <a:gd name="connsiteY125" fmla="*/ 6056314 h 6858002"/>
              <a:gd name="connsiteX126" fmla="*/ 6296891 w 6300250"/>
              <a:gd name="connsiteY126" fmla="*/ 6113464 h 6858002"/>
              <a:gd name="connsiteX127" fmla="*/ 6300250 w 6300250"/>
              <a:gd name="connsiteY127" fmla="*/ 6183314 h 6858002"/>
              <a:gd name="connsiteX128" fmla="*/ 6296891 w 6300250"/>
              <a:gd name="connsiteY128" fmla="*/ 6251577 h 6858002"/>
              <a:gd name="connsiteX129" fmla="*/ 6288493 w 6300250"/>
              <a:gd name="connsiteY129" fmla="*/ 6311902 h 6858002"/>
              <a:gd name="connsiteX130" fmla="*/ 6276736 w 6300250"/>
              <a:gd name="connsiteY130" fmla="*/ 6361114 h 6858002"/>
              <a:gd name="connsiteX131" fmla="*/ 6261619 w 6300250"/>
              <a:gd name="connsiteY131" fmla="*/ 6407152 h 6858002"/>
              <a:gd name="connsiteX132" fmla="*/ 6244823 w 6300250"/>
              <a:gd name="connsiteY132" fmla="*/ 6448427 h 6858002"/>
              <a:gd name="connsiteX133" fmla="*/ 6226348 w 6300250"/>
              <a:gd name="connsiteY133" fmla="*/ 6488114 h 6858002"/>
              <a:gd name="connsiteX134" fmla="*/ 6207872 w 6300250"/>
              <a:gd name="connsiteY134" fmla="*/ 6523039 h 6858002"/>
              <a:gd name="connsiteX135" fmla="*/ 6187717 w 6300250"/>
              <a:gd name="connsiteY135" fmla="*/ 6561139 h 6858002"/>
              <a:gd name="connsiteX136" fmla="*/ 6167562 w 6300250"/>
              <a:gd name="connsiteY136" fmla="*/ 6597652 h 6858002"/>
              <a:gd name="connsiteX137" fmla="*/ 6150766 w 6300250"/>
              <a:gd name="connsiteY137" fmla="*/ 6640514 h 6858002"/>
              <a:gd name="connsiteX138" fmla="*/ 6133970 w 6300250"/>
              <a:gd name="connsiteY138" fmla="*/ 6683377 h 6858002"/>
              <a:gd name="connsiteX139" fmla="*/ 6123892 w 6300250"/>
              <a:gd name="connsiteY139" fmla="*/ 6735764 h 6858002"/>
              <a:gd name="connsiteX140" fmla="*/ 6115495 w 6300250"/>
              <a:gd name="connsiteY140" fmla="*/ 6791327 h 6858002"/>
              <a:gd name="connsiteX141" fmla="*/ 6110455 w 6300250"/>
              <a:gd name="connsiteY141" fmla="*/ 6858002 h 6858002"/>
              <a:gd name="connsiteX142" fmla="*/ 3149600 w 6300250"/>
              <a:gd name="connsiteY142" fmla="*/ 6858002 h 6858002"/>
              <a:gd name="connsiteX143" fmla="*/ 2707087 w 6300250"/>
              <a:gd name="connsiteY143" fmla="*/ 6858002 h 6858002"/>
              <a:gd name="connsiteX144" fmla="*/ 0 w 6300250"/>
              <a:gd name="connsiteY144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</a:cxnLst>
            <a:rect l="l" t="t" r="r" b="b"/>
            <a:pathLst>
              <a:path w="6300250" h="6858002">
                <a:moveTo>
                  <a:pt x="0" y="0"/>
                </a:moveTo>
                <a:lnTo>
                  <a:pt x="3149600" y="0"/>
                </a:lnTo>
                <a:lnTo>
                  <a:pt x="3149600" y="2"/>
                </a:lnTo>
                <a:lnTo>
                  <a:pt x="6110455" y="2"/>
                </a:lnTo>
                <a:lnTo>
                  <a:pt x="6115495" y="66677"/>
                </a:lnTo>
                <a:lnTo>
                  <a:pt x="6123892" y="122239"/>
                </a:lnTo>
                <a:lnTo>
                  <a:pt x="6133970" y="174627"/>
                </a:lnTo>
                <a:lnTo>
                  <a:pt x="6150766" y="217489"/>
                </a:lnTo>
                <a:lnTo>
                  <a:pt x="6167562" y="260352"/>
                </a:lnTo>
                <a:lnTo>
                  <a:pt x="6187717" y="296864"/>
                </a:lnTo>
                <a:lnTo>
                  <a:pt x="6207872" y="334964"/>
                </a:lnTo>
                <a:lnTo>
                  <a:pt x="6226348" y="369889"/>
                </a:lnTo>
                <a:lnTo>
                  <a:pt x="6244823" y="409577"/>
                </a:lnTo>
                <a:lnTo>
                  <a:pt x="6261619" y="450852"/>
                </a:lnTo>
                <a:lnTo>
                  <a:pt x="6276736" y="496889"/>
                </a:lnTo>
                <a:lnTo>
                  <a:pt x="6288493" y="546102"/>
                </a:lnTo>
                <a:lnTo>
                  <a:pt x="6296891" y="606427"/>
                </a:lnTo>
                <a:lnTo>
                  <a:pt x="6300250" y="673102"/>
                </a:lnTo>
                <a:lnTo>
                  <a:pt x="6296891" y="744539"/>
                </a:lnTo>
                <a:lnTo>
                  <a:pt x="6288493" y="801689"/>
                </a:lnTo>
                <a:lnTo>
                  <a:pt x="6276736" y="854077"/>
                </a:lnTo>
                <a:lnTo>
                  <a:pt x="6261619" y="901702"/>
                </a:lnTo>
                <a:lnTo>
                  <a:pt x="6244823" y="942977"/>
                </a:lnTo>
                <a:lnTo>
                  <a:pt x="6224668" y="981077"/>
                </a:lnTo>
                <a:lnTo>
                  <a:pt x="6204513" y="1017589"/>
                </a:lnTo>
                <a:lnTo>
                  <a:pt x="6184358" y="1055689"/>
                </a:lnTo>
                <a:lnTo>
                  <a:pt x="6165882" y="1095377"/>
                </a:lnTo>
                <a:lnTo>
                  <a:pt x="6147406" y="1136652"/>
                </a:lnTo>
                <a:lnTo>
                  <a:pt x="6132291" y="1182689"/>
                </a:lnTo>
                <a:lnTo>
                  <a:pt x="6122213" y="1235077"/>
                </a:lnTo>
                <a:lnTo>
                  <a:pt x="6112135" y="1295402"/>
                </a:lnTo>
                <a:lnTo>
                  <a:pt x="6110455" y="1363664"/>
                </a:lnTo>
                <a:lnTo>
                  <a:pt x="6112135" y="1431927"/>
                </a:lnTo>
                <a:lnTo>
                  <a:pt x="6122213" y="1492252"/>
                </a:lnTo>
                <a:lnTo>
                  <a:pt x="6132291" y="1544639"/>
                </a:lnTo>
                <a:lnTo>
                  <a:pt x="6147406" y="1589089"/>
                </a:lnTo>
                <a:lnTo>
                  <a:pt x="6165882" y="1631952"/>
                </a:lnTo>
                <a:lnTo>
                  <a:pt x="6184358" y="1671639"/>
                </a:lnTo>
                <a:lnTo>
                  <a:pt x="6204513" y="1708152"/>
                </a:lnTo>
                <a:lnTo>
                  <a:pt x="6224668" y="1743077"/>
                </a:lnTo>
                <a:lnTo>
                  <a:pt x="6244823" y="1782764"/>
                </a:lnTo>
                <a:lnTo>
                  <a:pt x="6261619" y="1824039"/>
                </a:lnTo>
                <a:lnTo>
                  <a:pt x="6276736" y="1870077"/>
                </a:lnTo>
                <a:lnTo>
                  <a:pt x="6288493" y="1922464"/>
                </a:lnTo>
                <a:lnTo>
                  <a:pt x="6296891" y="1982789"/>
                </a:lnTo>
                <a:lnTo>
                  <a:pt x="6300250" y="2051052"/>
                </a:lnTo>
                <a:lnTo>
                  <a:pt x="6296891" y="2119314"/>
                </a:lnTo>
                <a:lnTo>
                  <a:pt x="6288493" y="2179639"/>
                </a:lnTo>
                <a:lnTo>
                  <a:pt x="6276736" y="2232027"/>
                </a:lnTo>
                <a:lnTo>
                  <a:pt x="6261619" y="2278064"/>
                </a:lnTo>
                <a:lnTo>
                  <a:pt x="6244823" y="2319339"/>
                </a:lnTo>
                <a:lnTo>
                  <a:pt x="6224668" y="2359027"/>
                </a:lnTo>
                <a:lnTo>
                  <a:pt x="6204513" y="2395539"/>
                </a:lnTo>
                <a:lnTo>
                  <a:pt x="6184358" y="2433639"/>
                </a:lnTo>
                <a:lnTo>
                  <a:pt x="6165882" y="2471739"/>
                </a:lnTo>
                <a:lnTo>
                  <a:pt x="6147406" y="2513014"/>
                </a:lnTo>
                <a:lnTo>
                  <a:pt x="6132291" y="2560639"/>
                </a:lnTo>
                <a:lnTo>
                  <a:pt x="6122213" y="2613027"/>
                </a:lnTo>
                <a:lnTo>
                  <a:pt x="6112135" y="2671764"/>
                </a:lnTo>
                <a:lnTo>
                  <a:pt x="6110455" y="2741614"/>
                </a:lnTo>
                <a:lnTo>
                  <a:pt x="6112135" y="2809877"/>
                </a:lnTo>
                <a:lnTo>
                  <a:pt x="6122213" y="2868614"/>
                </a:lnTo>
                <a:lnTo>
                  <a:pt x="6132291" y="2922589"/>
                </a:lnTo>
                <a:lnTo>
                  <a:pt x="6147406" y="2967039"/>
                </a:lnTo>
                <a:lnTo>
                  <a:pt x="6165882" y="3009902"/>
                </a:lnTo>
                <a:lnTo>
                  <a:pt x="6184358" y="3046414"/>
                </a:lnTo>
                <a:lnTo>
                  <a:pt x="6204513" y="3084514"/>
                </a:lnTo>
                <a:lnTo>
                  <a:pt x="6224668" y="3121027"/>
                </a:lnTo>
                <a:lnTo>
                  <a:pt x="6244823" y="3160714"/>
                </a:lnTo>
                <a:lnTo>
                  <a:pt x="6261619" y="3201989"/>
                </a:lnTo>
                <a:lnTo>
                  <a:pt x="6276736" y="3248027"/>
                </a:lnTo>
                <a:lnTo>
                  <a:pt x="6288493" y="3300414"/>
                </a:lnTo>
                <a:lnTo>
                  <a:pt x="6296891" y="3360739"/>
                </a:lnTo>
                <a:lnTo>
                  <a:pt x="6300250" y="3427414"/>
                </a:lnTo>
                <a:lnTo>
                  <a:pt x="6296891" y="3497264"/>
                </a:lnTo>
                <a:lnTo>
                  <a:pt x="6288493" y="3557589"/>
                </a:lnTo>
                <a:lnTo>
                  <a:pt x="6276736" y="3609977"/>
                </a:lnTo>
                <a:lnTo>
                  <a:pt x="6261619" y="3656014"/>
                </a:lnTo>
                <a:lnTo>
                  <a:pt x="6244823" y="3697289"/>
                </a:lnTo>
                <a:lnTo>
                  <a:pt x="6224668" y="3736977"/>
                </a:lnTo>
                <a:lnTo>
                  <a:pt x="6184358" y="3811589"/>
                </a:lnTo>
                <a:lnTo>
                  <a:pt x="6165882" y="3848102"/>
                </a:lnTo>
                <a:lnTo>
                  <a:pt x="6147406" y="3890964"/>
                </a:lnTo>
                <a:lnTo>
                  <a:pt x="6132291" y="3935414"/>
                </a:lnTo>
                <a:lnTo>
                  <a:pt x="6122213" y="3987802"/>
                </a:lnTo>
                <a:lnTo>
                  <a:pt x="6112135" y="4048127"/>
                </a:lnTo>
                <a:lnTo>
                  <a:pt x="6110455" y="4116389"/>
                </a:lnTo>
                <a:lnTo>
                  <a:pt x="6112135" y="4186239"/>
                </a:lnTo>
                <a:lnTo>
                  <a:pt x="6122213" y="4244977"/>
                </a:lnTo>
                <a:lnTo>
                  <a:pt x="6132291" y="4297364"/>
                </a:lnTo>
                <a:lnTo>
                  <a:pt x="6147406" y="4343402"/>
                </a:lnTo>
                <a:lnTo>
                  <a:pt x="6165882" y="4386264"/>
                </a:lnTo>
                <a:lnTo>
                  <a:pt x="6184358" y="4424364"/>
                </a:lnTo>
                <a:lnTo>
                  <a:pt x="6224668" y="4498977"/>
                </a:lnTo>
                <a:lnTo>
                  <a:pt x="6244823" y="4537077"/>
                </a:lnTo>
                <a:lnTo>
                  <a:pt x="6261619" y="4579939"/>
                </a:lnTo>
                <a:lnTo>
                  <a:pt x="6276736" y="4625977"/>
                </a:lnTo>
                <a:lnTo>
                  <a:pt x="6288493" y="4678364"/>
                </a:lnTo>
                <a:lnTo>
                  <a:pt x="6296891" y="4738689"/>
                </a:lnTo>
                <a:lnTo>
                  <a:pt x="6300250" y="4806952"/>
                </a:lnTo>
                <a:lnTo>
                  <a:pt x="6296891" y="4875214"/>
                </a:lnTo>
                <a:lnTo>
                  <a:pt x="6288493" y="4935539"/>
                </a:lnTo>
                <a:lnTo>
                  <a:pt x="6276736" y="4987927"/>
                </a:lnTo>
                <a:lnTo>
                  <a:pt x="6261619" y="5033964"/>
                </a:lnTo>
                <a:lnTo>
                  <a:pt x="6244823" y="5075239"/>
                </a:lnTo>
                <a:lnTo>
                  <a:pt x="6224668" y="5114927"/>
                </a:lnTo>
                <a:lnTo>
                  <a:pt x="6204513" y="5149852"/>
                </a:lnTo>
                <a:lnTo>
                  <a:pt x="6184358" y="5186364"/>
                </a:lnTo>
                <a:lnTo>
                  <a:pt x="6165882" y="5226052"/>
                </a:lnTo>
                <a:lnTo>
                  <a:pt x="6147406" y="5268914"/>
                </a:lnTo>
                <a:lnTo>
                  <a:pt x="6132291" y="5313364"/>
                </a:lnTo>
                <a:lnTo>
                  <a:pt x="6122213" y="5365752"/>
                </a:lnTo>
                <a:lnTo>
                  <a:pt x="6112135" y="5426077"/>
                </a:lnTo>
                <a:lnTo>
                  <a:pt x="6110455" y="5494339"/>
                </a:lnTo>
                <a:lnTo>
                  <a:pt x="6112135" y="5562602"/>
                </a:lnTo>
                <a:lnTo>
                  <a:pt x="6122213" y="5622927"/>
                </a:lnTo>
                <a:lnTo>
                  <a:pt x="6132291" y="5675314"/>
                </a:lnTo>
                <a:lnTo>
                  <a:pt x="6147406" y="5721352"/>
                </a:lnTo>
                <a:lnTo>
                  <a:pt x="6165882" y="5762627"/>
                </a:lnTo>
                <a:lnTo>
                  <a:pt x="6184358" y="5802314"/>
                </a:lnTo>
                <a:lnTo>
                  <a:pt x="6204513" y="5840414"/>
                </a:lnTo>
                <a:lnTo>
                  <a:pt x="6224668" y="5876927"/>
                </a:lnTo>
                <a:lnTo>
                  <a:pt x="6244823" y="5915027"/>
                </a:lnTo>
                <a:lnTo>
                  <a:pt x="6261619" y="5956302"/>
                </a:lnTo>
                <a:lnTo>
                  <a:pt x="6276736" y="6003927"/>
                </a:lnTo>
                <a:lnTo>
                  <a:pt x="6288493" y="6056314"/>
                </a:lnTo>
                <a:lnTo>
                  <a:pt x="6296891" y="6113464"/>
                </a:lnTo>
                <a:lnTo>
                  <a:pt x="6300250" y="6183314"/>
                </a:lnTo>
                <a:lnTo>
                  <a:pt x="6296891" y="6251577"/>
                </a:lnTo>
                <a:lnTo>
                  <a:pt x="6288493" y="6311902"/>
                </a:lnTo>
                <a:lnTo>
                  <a:pt x="6276736" y="6361114"/>
                </a:lnTo>
                <a:lnTo>
                  <a:pt x="6261619" y="6407152"/>
                </a:lnTo>
                <a:lnTo>
                  <a:pt x="6244823" y="6448427"/>
                </a:lnTo>
                <a:lnTo>
                  <a:pt x="6226348" y="6488114"/>
                </a:lnTo>
                <a:lnTo>
                  <a:pt x="6207872" y="6523039"/>
                </a:lnTo>
                <a:lnTo>
                  <a:pt x="6187717" y="6561139"/>
                </a:lnTo>
                <a:lnTo>
                  <a:pt x="6167562" y="6597652"/>
                </a:lnTo>
                <a:lnTo>
                  <a:pt x="6150766" y="6640514"/>
                </a:lnTo>
                <a:lnTo>
                  <a:pt x="6133970" y="6683377"/>
                </a:lnTo>
                <a:lnTo>
                  <a:pt x="6123892" y="6735764"/>
                </a:lnTo>
                <a:lnTo>
                  <a:pt x="6115495" y="6791327"/>
                </a:lnTo>
                <a:lnTo>
                  <a:pt x="6110455" y="6858002"/>
                </a:lnTo>
                <a:lnTo>
                  <a:pt x="3149600" y="6858002"/>
                </a:lnTo>
                <a:lnTo>
                  <a:pt x="2707087" y="6858002"/>
                </a:lnTo>
                <a:lnTo>
                  <a:pt x="0" y="6858002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sv-SE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E3B475C6-1445-41C7-9360-49FD7C1C1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3CBCD6-EAB9-4FFF-BE53-A44BD32B7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933" y="1162940"/>
            <a:ext cx="4515598" cy="4532120"/>
          </a:xfrm>
        </p:spPr>
        <p:txBody>
          <a:bodyPr anchor="ctr">
            <a:normAutofit/>
          </a:bodyPr>
          <a:lstStyle/>
          <a:p>
            <a:r>
              <a:rPr lang="en-US" sz="4000" dirty="0" err="1">
                <a:solidFill>
                  <a:srgbClr val="2A1A00"/>
                </a:solidFill>
                <a:latin typeface="Bodoni MT" panose="02070603080606020203" pitchFamily="18" charset="0"/>
              </a:rPr>
              <a:t>Innehåll</a:t>
            </a:r>
            <a:endParaRPr lang="en-US" sz="4000" dirty="0">
              <a:solidFill>
                <a:srgbClr val="2A1A00"/>
              </a:solidFill>
              <a:latin typeface="Bodoni MT" panose="020706030806060202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E1F60-FB9A-4C02-94AC-E5C4C1358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271" y="1128451"/>
            <a:ext cx="4680729" cy="4566609"/>
          </a:xfrm>
        </p:spPr>
        <p:txBody>
          <a:bodyPr anchor="ctr"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Variabler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Datatyper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Operatorer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Jämförelser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If-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Satser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Loopar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While &amp; For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Funktioner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Arrow-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funktioner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Klasser &amp; OOP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-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Listor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7163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382385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Variabler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978408"/>
            <a:ext cx="10178322" cy="5727192"/>
          </a:xfrm>
        </p:spPr>
        <p:txBody>
          <a:bodyPr/>
          <a:lstStyle/>
          <a:p>
            <a:r>
              <a:rPr lang="sv-SE" dirty="0"/>
              <a:t>En variabel är en ”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namngiven lagring</a:t>
            </a:r>
            <a:r>
              <a:rPr lang="sv-SE" dirty="0"/>
              <a:t>” för data.</a:t>
            </a:r>
          </a:p>
          <a:p>
            <a:r>
              <a:rPr lang="sv-SE" dirty="0"/>
              <a:t> Vi kan använda variabler för att lagra alla typer av data:</a:t>
            </a:r>
          </a:p>
          <a:p>
            <a:pPr lvl="1"/>
            <a:r>
              <a:rPr lang="sv-SE" dirty="0"/>
              <a:t>ett namn</a:t>
            </a:r>
          </a:p>
          <a:p>
            <a:pPr lvl="1"/>
            <a:r>
              <a:rPr lang="sv-SE" dirty="0"/>
              <a:t>ett tal</a:t>
            </a:r>
          </a:p>
          <a:p>
            <a:pPr lvl="1"/>
            <a:r>
              <a:rPr lang="sv-SE" dirty="0"/>
              <a:t>ett objekt</a:t>
            </a:r>
          </a:p>
          <a:p>
            <a:pPr lvl="1"/>
            <a:r>
              <a:rPr lang="sv-SE" dirty="0"/>
              <a:t>och annan data</a:t>
            </a:r>
          </a:p>
          <a:p>
            <a:r>
              <a:rPr lang="sv-SE" dirty="0"/>
              <a:t>För att skapa en variabel använder vi nyckelordet ”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let</a:t>
            </a:r>
            <a:r>
              <a:rPr lang="sv-SE" dirty="0"/>
              <a:t>” framför variabelnamnet. Sedan kan vi lägga till data i det genom att använda tilldelningsoperatorn ”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=</a:t>
            </a:r>
            <a:r>
              <a:rPr lang="sv-SE" dirty="0"/>
              <a:t>”:</a:t>
            </a:r>
          </a:p>
          <a:p>
            <a:endParaRPr lang="sv-SE" dirty="0"/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dirty="0"/>
          </a:p>
          <a:p>
            <a:r>
              <a:rPr lang="sv-SE" dirty="0"/>
              <a:t>Vi kan kombinera variabeldeklarationen och tilldelningen till en enda rad:</a:t>
            </a:r>
            <a:br>
              <a:rPr lang="sv-SE" dirty="0"/>
            </a:br>
            <a:br>
              <a:rPr lang="sv-SE" dirty="0"/>
            </a:br>
            <a:endParaRPr lang="sv-S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7E638E-1EC6-41BA-ADAF-645B5B077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961" y="4283242"/>
            <a:ext cx="5309460" cy="1043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E0091A-5DEF-4FB9-BF1D-D78A2003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961" y="5804335"/>
            <a:ext cx="4699334" cy="96007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AE4871-AC70-4981-ADD0-6A4830681B3F}"/>
              </a:ext>
            </a:extLst>
          </p:cNvPr>
          <p:cNvCxnSpPr>
            <a:cxnSpLocks/>
          </p:cNvCxnSpPr>
          <p:nvPr/>
        </p:nvCxnSpPr>
        <p:spPr>
          <a:xfrm flipH="1">
            <a:off x="3400926" y="4368797"/>
            <a:ext cx="3914274" cy="265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F6E466-7F1B-4421-9AA7-541469C52FF1}"/>
              </a:ext>
            </a:extLst>
          </p:cNvPr>
          <p:cNvCxnSpPr>
            <a:cxnSpLocks/>
          </p:cNvCxnSpPr>
          <p:nvPr/>
        </p:nvCxnSpPr>
        <p:spPr>
          <a:xfrm flipH="1">
            <a:off x="3802983" y="4693730"/>
            <a:ext cx="3762320" cy="206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0EF72E-75A2-41E6-9697-4E04B36E7D28}"/>
              </a:ext>
            </a:extLst>
          </p:cNvPr>
          <p:cNvSpPr txBox="1"/>
          <p:nvPr/>
        </p:nvSpPr>
        <p:spPr>
          <a:xfrm>
            <a:off x="7431381" y="4151327"/>
            <a:ext cx="2690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variabelns namn – message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58810-E793-4421-A7B5-0F286DB5FBEA}"/>
              </a:ext>
            </a:extLst>
          </p:cNvPr>
          <p:cNvSpPr txBox="1"/>
          <p:nvPr/>
        </p:nvSpPr>
        <p:spPr>
          <a:xfrm>
            <a:off x="7565303" y="4509064"/>
            <a:ext cx="2537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variabelns värde – ’Hello’</a:t>
            </a:r>
          </a:p>
        </p:txBody>
      </p:sp>
    </p:spTree>
    <p:extLst>
      <p:ext uri="{BB962C8B-B14F-4D97-AF65-F5344CB8AC3E}">
        <p14:creationId xmlns:p14="http://schemas.microsoft.com/office/powerpoint/2010/main" val="3977111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382385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Variabler forts.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978408"/>
            <a:ext cx="10178322" cy="5727192"/>
          </a:xfrm>
        </p:spPr>
        <p:txBody>
          <a:bodyPr/>
          <a:lstStyle/>
          <a:p>
            <a:r>
              <a:rPr lang="sv-SE" dirty="0"/>
              <a:t>Namngivning av en variabel får endast innehålla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bokstäver</a:t>
            </a:r>
            <a:r>
              <a:rPr lang="sv-SE" dirty="0"/>
              <a:t>,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siffror</a:t>
            </a:r>
            <a:r>
              <a:rPr lang="sv-SE" dirty="0"/>
              <a:t> eller symbolerna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$</a:t>
            </a:r>
            <a:r>
              <a:rPr lang="sv-SE" dirty="0"/>
              <a:t> och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_</a:t>
            </a:r>
            <a:r>
              <a:rPr lang="sv-SE" dirty="0"/>
              <a:t>.</a:t>
            </a:r>
          </a:p>
          <a:p>
            <a:r>
              <a:rPr lang="sv-SE" dirty="0"/>
              <a:t>Exempel på tillåtna namn:</a:t>
            </a:r>
            <a:br>
              <a:rPr lang="sv-SE" dirty="0"/>
            </a:br>
            <a:endParaRPr lang="sv-SE" dirty="0"/>
          </a:p>
          <a:p>
            <a:pPr marL="0" indent="0">
              <a:buNone/>
            </a:pPr>
            <a:endParaRPr lang="sv-SE" dirty="0"/>
          </a:p>
          <a:p>
            <a:r>
              <a:rPr lang="sv-SE" dirty="0"/>
              <a:t>Exempel på otillåtna namn:</a:t>
            </a:r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dirty="0"/>
          </a:p>
          <a:p>
            <a:r>
              <a:rPr lang="sv-SE" dirty="0"/>
              <a:t>Om man vill deklarera en oföränderlig variabel använd nyckelordet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const</a:t>
            </a:r>
            <a:r>
              <a:rPr lang="sv-SE" dirty="0"/>
              <a:t> istället för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let</a:t>
            </a:r>
            <a:r>
              <a:rPr lang="sv-SE" dirty="0"/>
              <a:t>:</a:t>
            </a:r>
            <a:br>
              <a:rPr lang="sv-SE" dirty="0"/>
            </a:br>
            <a:br>
              <a:rPr lang="sv-SE" dirty="0"/>
            </a:br>
            <a:endParaRPr lang="sv-SE" dirty="0"/>
          </a:p>
          <a:p>
            <a:r>
              <a:rPr lang="sv-SE" dirty="0"/>
              <a:t>Kan ni ange någon variabel från matematiken som skulle kunna deklareras som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const</a:t>
            </a:r>
            <a:r>
              <a:rPr lang="sv-SE" dirty="0"/>
              <a:t>?</a:t>
            </a:r>
          </a:p>
          <a:p>
            <a:r>
              <a:rPr lang="sv-SE" dirty="0"/>
              <a:t>Det finns en lista med reserverade ord som inte kan användas som variabla namn eftersom de används av själva språket. Exempel är: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let</a:t>
            </a:r>
            <a:r>
              <a:rPr lang="sv-SE" dirty="0"/>
              <a:t>,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class</a:t>
            </a:r>
            <a:r>
              <a:rPr lang="sv-SE" dirty="0"/>
              <a:t>,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return</a:t>
            </a:r>
            <a:r>
              <a:rPr lang="sv-SE" dirty="0"/>
              <a:t> och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function</a:t>
            </a:r>
            <a:r>
              <a:rPr lang="sv-SE" dirty="0"/>
              <a:t> m.m.</a:t>
            </a:r>
          </a:p>
          <a:p>
            <a:endParaRPr lang="sv-SE" dirty="0"/>
          </a:p>
          <a:p>
            <a:endParaRPr lang="sv-S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15410C8-27D2-4273-A163-E27B6B69B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553" y="1783947"/>
            <a:ext cx="6296079" cy="77951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D593972-694C-4DA6-8270-2DC1A9B3F8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4553" y="2975623"/>
            <a:ext cx="6697131" cy="10735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672B32C-31FC-4E6C-9105-ED9B1EC43D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4553" y="4684295"/>
            <a:ext cx="5232915" cy="64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409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382385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Bodoni MT" panose="02070603080606020203" pitchFamily="18" charset="0"/>
              </a:rPr>
              <a:t>Datatyper</a:t>
            </a:r>
            <a:endParaRPr lang="en-US" sz="4000" dirty="0">
              <a:latin typeface="Bodoni MT" panose="02070603080606020203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882634"/>
            <a:ext cx="10178322" cy="5975366"/>
          </a:xfrm>
        </p:spPr>
        <p:txBody>
          <a:bodyPr>
            <a:normAutofit lnSpcReduction="10000"/>
          </a:bodyPr>
          <a:lstStyle/>
          <a:p>
            <a:r>
              <a:rPr lang="sv-SE" dirty="0"/>
              <a:t>Ett värde i JavaScript är alltid av en viss typ. Till exempel en sträng (text) eller ett nummer.</a:t>
            </a:r>
          </a:p>
          <a:p>
            <a:r>
              <a:rPr lang="sv-SE" dirty="0"/>
              <a:t>Det finns åtta grundläggande datatyper i JavaScript, här är de 6 viktigaste.</a:t>
            </a:r>
          </a:p>
          <a:p>
            <a:pPr lvl="1"/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number </a:t>
            </a: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för siffror: heltal och decimaltal</a:t>
            </a:r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lvl="1"/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string </a:t>
            </a: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för strängar. En sträng kan ha noll eller flera tecken. Det finns ingen separat typ av enstaka tecken</a:t>
            </a:r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lvl="1"/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boolean </a:t>
            </a: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för sant/falsk</a:t>
            </a:r>
          </a:p>
          <a:p>
            <a:pPr lvl="1"/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null </a:t>
            </a: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för okända värden – en fristående typ som har ett enda värde null</a:t>
            </a:r>
          </a:p>
          <a:p>
            <a:pPr lvl="1"/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undefined </a:t>
            </a: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odefinierat för otilldelade värden – en fristående typ som har ett odefinerat värde</a:t>
            </a:r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lvl="1"/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object </a:t>
            </a: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för mer komplexa datastrukturer</a:t>
            </a:r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457200" lvl="1" indent="0">
              <a:buNone/>
            </a:pPr>
            <a:endParaRPr lang="sv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sv-SE" dirty="0"/>
              <a:t>Vi kan tilldela valfri typ i en variabel. Till exempel kan en variabel i ett ögonblick vara en sträng och sedan lagra ett nummer:</a:t>
            </a:r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dirty="0"/>
          </a:p>
          <a:p>
            <a:r>
              <a:rPr lang="sv-SE" dirty="0"/>
              <a:t>Programmeringsspråk som tillåter sådana saker, till exempel JavaScript, kallas ”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dynamiskt typade</a:t>
            </a:r>
            <a:r>
              <a:rPr lang="sv-SE" dirty="0"/>
              <a:t>”, vilket innebär att det finns datatyper, men variabler är inte bundna till någon av dem.</a:t>
            </a:r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873876-DD73-41E5-BAC9-92E9FA868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731" y="4883028"/>
            <a:ext cx="6677025" cy="98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041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Operatorer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Följande matematikoperationer stöds:</a:t>
            </a:r>
          </a:p>
          <a:p>
            <a:pPr lvl="1"/>
            <a:r>
              <a:rPr lang="sv-SE" sz="1600" dirty="0"/>
              <a:t>Addition</a:t>
            </a:r>
            <a:r>
              <a:rPr lang="sv-SE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+</a:t>
            </a:r>
          </a:p>
          <a:p>
            <a:pPr lvl="1"/>
            <a:r>
              <a:rPr lang="sv-SE" sz="1600" dirty="0"/>
              <a:t>Subraktion</a:t>
            </a:r>
            <a:r>
              <a:rPr lang="sv-SE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–</a:t>
            </a:r>
          </a:p>
          <a:p>
            <a:pPr lvl="1"/>
            <a:r>
              <a:rPr lang="sv-SE" sz="1600" dirty="0"/>
              <a:t>Multiplikation</a:t>
            </a:r>
            <a:r>
              <a:rPr lang="sv-SE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*</a:t>
            </a:r>
          </a:p>
          <a:p>
            <a:pPr lvl="1"/>
            <a:r>
              <a:rPr lang="sv-SE" sz="1600" dirty="0"/>
              <a:t>Division</a:t>
            </a:r>
            <a:r>
              <a:rPr lang="sv-SE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/</a:t>
            </a:r>
          </a:p>
          <a:p>
            <a:pPr lvl="1"/>
            <a:r>
              <a:rPr lang="sv-SE" sz="1600" dirty="0"/>
              <a:t>Restopreatorn</a:t>
            </a:r>
            <a:r>
              <a:rPr lang="sv-SE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%</a:t>
            </a:r>
          </a:p>
          <a:p>
            <a:pPr lvl="2"/>
            <a:r>
              <a:rPr lang="sv-SE" sz="1400" dirty="0"/>
              <a:t>Restoperatorn trots dess utseende är inte relaterad till procent.</a:t>
            </a:r>
          </a:p>
          <a:p>
            <a:pPr lvl="2"/>
            <a:r>
              <a:rPr lang="sv-SE" sz="1400" dirty="0"/>
              <a:t>Resultatet av </a:t>
            </a:r>
            <a:r>
              <a:rPr lang="sv-SE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 % b </a:t>
            </a:r>
            <a:r>
              <a:rPr lang="sv-SE" sz="1400" dirty="0"/>
              <a:t>är resten av heltalsdivisionen av </a:t>
            </a:r>
            <a:r>
              <a:rPr lang="sv-SE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 </a:t>
            </a:r>
            <a:r>
              <a:rPr lang="sv-SE" sz="1400" dirty="0"/>
              <a:t>med</a:t>
            </a:r>
            <a:r>
              <a:rPr lang="sv-SE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b</a:t>
            </a:r>
          </a:p>
          <a:p>
            <a:pPr marL="914400" lvl="2" indent="0">
              <a:buNone/>
            </a:pPr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914400" lvl="2" indent="0">
              <a:buNone/>
            </a:pPr>
            <a:endParaRPr lang="sv-SE" dirty="0"/>
          </a:p>
          <a:p>
            <a:pPr lvl="1"/>
            <a:r>
              <a:rPr lang="sv-SE" sz="1600" dirty="0"/>
              <a:t>Exponentopreatorn</a:t>
            </a:r>
            <a:r>
              <a:rPr lang="sv-SE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sv-SE" sz="1600" dirty="0"/>
              <a:t>(upphöjt till) </a:t>
            </a:r>
            <a:r>
              <a:rPr lang="sv-SE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**</a:t>
            </a:r>
          </a:p>
          <a:p>
            <a:pPr lvl="2"/>
            <a:r>
              <a:rPr lang="sv-SE" sz="1400" dirty="0"/>
              <a:t>Exponentoperatorn </a:t>
            </a:r>
            <a:r>
              <a:rPr lang="sv-SE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a**b</a:t>
            </a:r>
            <a:r>
              <a:rPr lang="sv-SE" sz="1400" dirty="0"/>
              <a:t> multiplicerar </a:t>
            </a:r>
            <a:r>
              <a:rPr lang="sv-SE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</a:t>
            </a:r>
            <a:r>
              <a:rPr lang="sv-SE" sz="1400" dirty="0"/>
              <a:t> med sig själv </a:t>
            </a:r>
            <a:r>
              <a:rPr lang="sv-SE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</a:t>
            </a:r>
            <a:r>
              <a:rPr lang="sv-SE" sz="1400" dirty="0"/>
              <a:t> gånger</a:t>
            </a:r>
          </a:p>
          <a:p>
            <a:pPr lvl="2"/>
            <a:endParaRPr lang="sv-SE" dirty="0"/>
          </a:p>
          <a:p>
            <a:pPr marL="914400" lvl="2" indent="0">
              <a:buNone/>
            </a:pPr>
            <a:endParaRPr lang="sv-SE" dirty="0"/>
          </a:p>
          <a:p>
            <a:r>
              <a:rPr lang="sv-SE" sz="1600" dirty="0" err="1"/>
              <a:t>Strängkonkatenering</a:t>
            </a:r>
            <a:r>
              <a:rPr lang="sv-SE" sz="1600" dirty="0"/>
              <a:t>: vanligtvis summerar plusoperatorn nummer, men om operatorn + tillämpas på strängar, slås strängarna ihop.</a:t>
            </a:r>
          </a:p>
          <a:p>
            <a:endParaRPr lang="sv-SE" dirty="0"/>
          </a:p>
          <a:p>
            <a:pPr marL="0" indent="0">
              <a:buNone/>
            </a:pPr>
            <a:endParaRPr lang="sv-SE" dirty="0"/>
          </a:p>
          <a:p>
            <a:endParaRPr lang="sv-SE" dirty="0"/>
          </a:p>
          <a:p>
            <a:endParaRPr lang="sv-SE" dirty="0"/>
          </a:p>
          <a:p>
            <a:endParaRPr lang="sv-SE" dirty="0"/>
          </a:p>
          <a:p>
            <a:endParaRPr lang="sv-SE" dirty="0"/>
          </a:p>
          <a:p>
            <a:pPr marL="0" indent="0">
              <a:buNone/>
            </a:pPr>
            <a:endParaRPr lang="sv-SE" dirty="0"/>
          </a:p>
          <a:p>
            <a:endParaRPr lang="sv-SE" dirty="0"/>
          </a:p>
          <a:p>
            <a:pPr marL="0" indent="0">
              <a:buNone/>
            </a:pPr>
            <a:endParaRPr lang="sv-SE" dirty="0"/>
          </a:p>
          <a:p>
            <a:pPr lvl="1"/>
            <a:endParaRPr lang="sv-SE" dirty="0"/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AF6EC4-CE98-4ACE-BCFD-98F64FA7A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970" y="3666953"/>
            <a:ext cx="5574668" cy="6076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E5D563-745A-4E43-9F71-602C020ED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6970" y="4924470"/>
            <a:ext cx="5303113" cy="6657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3C6CB3-4559-4E4E-9485-9A9117F300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5482" y="6029688"/>
            <a:ext cx="5024575" cy="62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379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Bodoni MT" panose="02070603080606020203" pitchFamily="18" charset="0"/>
              </a:rPr>
              <a:t>JAmförelser</a:t>
            </a:r>
            <a:endParaRPr lang="en-US" sz="4000" dirty="0">
              <a:latin typeface="Bodoni MT" panose="02070603080606020203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Följande jämförelseoperatorer finns i JavaScript:</a:t>
            </a:r>
          </a:p>
          <a:p>
            <a:pPr lvl="1"/>
            <a:r>
              <a:rPr lang="sv-SE" dirty="0"/>
              <a:t>större / mindre än: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 &gt; b</a:t>
            </a:r>
            <a:r>
              <a:rPr lang="sv-SE" dirty="0"/>
              <a:t>,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 &lt; b</a:t>
            </a:r>
          </a:p>
          <a:p>
            <a:pPr lvl="1"/>
            <a:r>
              <a:rPr lang="sv-SE" dirty="0"/>
              <a:t>Större / mindre än eller lika med: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 &gt;= b</a:t>
            </a:r>
            <a:r>
              <a:rPr lang="sv-SE" dirty="0"/>
              <a:t>,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a&lt;= b</a:t>
            </a:r>
          </a:p>
          <a:p>
            <a:pPr lvl="1"/>
            <a:r>
              <a:rPr lang="sv-SE" dirty="0"/>
              <a:t>Lika med: 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 == b</a:t>
            </a:r>
            <a:r>
              <a:rPr lang="sv-SE" dirty="0"/>
              <a:t>, notera att dubbla likhetstecken == betyder ”samma som” eller ”lika med” medan ett likhetstecken = betyder tilldelning</a:t>
            </a:r>
          </a:p>
          <a:p>
            <a:pPr lvl="1"/>
            <a:r>
              <a:rPr lang="sv-SE" dirty="0"/>
              <a:t>Inte lika med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 != b</a:t>
            </a:r>
          </a:p>
          <a:p>
            <a:r>
              <a:rPr lang="sv-SE" dirty="0"/>
              <a:t>Resultatet av en jämförelse är alltid en boolean:</a:t>
            </a:r>
          </a:p>
          <a:p>
            <a:pPr lvl="1"/>
            <a:r>
              <a:rPr lang="sv-SE" dirty="0"/>
              <a:t>true: betyder ”ja”, ”rätt” eller ”sant”</a:t>
            </a:r>
          </a:p>
          <a:p>
            <a:pPr lvl="1"/>
            <a:r>
              <a:rPr lang="sv-SE" dirty="0"/>
              <a:t>false: betyder ”nej”, ”fel” eller ”falskt”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endParaRPr lang="sv-SE" dirty="0"/>
          </a:p>
          <a:p>
            <a:r>
              <a:rPr lang="sv-SE" dirty="0"/>
              <a:t>Ett jämförelseresultat kan tilldelas en variabel, precis som vilket värde som helst:</a:t>
            </a:r>
          </a:p>
          <a:p>
            <a:pPr lvl="1"/>
            <a:endParaRPr lang="sv-SE" dirty="0"/>
          </a:p>
          <a:p>
            <a:endParaRPr lang="sv-SE" dirty="0"/>
          </a:p>
          <a:p>
            <a:endParaRPr lang="sv-SE" dirty="0"/>
          </a:p>
          <a:p>
            <a:pPr marL="0" indent="0">
              <a:buNone/>
            </a:pPr>
            <a:endParaRPr lang="sv-SE" dirty="0"/>
          </a:p>
          <a:p>
            <a:endParaRPr lang="sv-SE" dirty="0"/>
          </a:p>
          <a:p>
            <a:pPr marL="0" indent="0">
              <a:buNone/>
            </a:pPr>
            <a:endParaRPr lang="sv-SE" dirty="0"/>
          </a:p>
          <a:p>
            <a:pPr lvl="1"/>
            <a:endParaRPr lang="sv-SE" dirty="0"/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CAC3A0-BF50-4D19-AFBB-5AC16CF8D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512" y="4125712"/>
            <a:ext cx="6901047" cy="8867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394863-0C67-45F5-B63F-79C20C0C13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512" y="5840159"/>
            <a:ext cx="8262327" cy="81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523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If-</a:t>
            </a:r>
            <a:r>
              <a:rPr lang="en-US" sz="4000" dirty="0" err="1">
                <a:latin typeface="Bodoni MT" panose="02070603080606020203" pitchFamily="18" charset="0"/>
              </a:rPr>
              <a:t>satser</a:t>
            </a:r>
            <a:endParaRPr lang="en-US" sz="4000" dirty="0">
              <a:latin typeface="Bodoni MT" panose="02070603080606020203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Vi använder If-satser när vi vill utföra saker baserade på olika villkor.  If-satsen utvärderar ett villkor inom parantes och om resultatet är sant, körs ett kodblock:</a:t>
            </a:r>
          </a:p>
          <a:p>
            <a:pPr lvl="1"/>
            <a:endParaRPr lang="sv-SE" dirty="0"/>
          </a:p>
          <a:p>
            <a:endParaRPr lang="sv-SE" dirty="0"/>
          </a:p>
          <a:p>
            <a:r>
              <a:rPr lang="sv-SE" dirty="0"/>
              <a:t>Ett nummer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</a:t>
            </a:r>
            <a:r>
              <a:rPr lang="sv-SE" dirty="0"/>
              <a:t>, en tom sträng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””</a:t>
            </a:r>
            <a:r>
              <a:rPr lang="sv-SE" dirty="0"/>
              <a:t>,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null</a:t>
            </a:r>
            <a:r>
              <a:rPr lang="sv-SE" dirty="0"/>
              <a:t>,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undefined</a:t>
            </a:r>
            <a:r>
              <a:rPr lang="sv-SE" dirty="0"/>
              <a:t> och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NaN</a:t>
            </a:r>
            <a:r>
              <a:rPr lang="sv-SE" dirty="0"/>
              <a:t> blir alla falska. Därför kallas de för ”falska” värden.</a:t>
            </a:r>
          </a:p>
          <a:p>
            <a:r>
              <a:rPr lang="sv-SE" dirty="0"/>
              <a:t>Andra värden blir sanna, så de kallas ”sanna” värden.</a:t>
            </a:r>
          </a:p>
          <a:p>
            <a:pPr lvl="1"/>
            <a:endParaRPr lang="sv-SE" dirty="0"/>
          </a:p>
          <a:p>
            <a:endParaRPr lang="sv-SE" dirty="0"/>
          </a:p>
          <a:p>
            <a:r>
              <a:rPr lang="sv-SE" dirty="0"/>
              <a:t>En </a:t>
            </a:r>
            <a:r>
              <a:rPr lang="sv-SE" dirty="0" err="1"/>
              <a:t>if</a:t>
            </a:r>
            <a:r>
              <a:rPr lang="sv-SE" dirty="0"/>
              <a:t>-sats kan innehålla ett valfritt ”</a:t>
            </a:r>
            <a:r>
              <a:rPr lang="sv-SE" dirty="0" err="1"/>
              <a:t>else</a:t>
            </a:r>
            <a:r>
              <a:rPr lang="sv-SE" dirty="0"/>
              <a:t>”- block. Den körs när villkoret är felaktigt.</a:t>
            </a:r>
          </a:p>
          <a:p>
            <a:endParaRPr lang="sv-SE" dirty="0"/>
          </a:p>
          <a:p>
            <a:endParaRPr lang="sv-SE" dirty="0"/>
          </a:p>
          <a:p>
            <a:pPr marL="457200" lvl="1" indent="0">
              <a:buNone/>
            </a:pPr>
            <a:endParaRPr lang="sv-SE" dirty="0"/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F9A474-A6FD-44D5-B996-54AFEF614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573" y="1362683"/>
            <a:ext cx="4544427" cy="9153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CF12DF-A806-4DA3-BA2B-0B0D95EAE5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573" y="3448470"/>
            <a:ext cx="2447925" cy="723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7ADF1B-3E0D-4AD0-AB48-9FACD2DC9C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082" y="3482111"/>
            <a:ext cx="2867025" cy="6953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B75204-5659-4B1D-9039-9024BA7EF6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5332" y="4768393"/>
            <a:ext cx="6200775" cy="111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9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If-</a:t>
            </a:r>
            <a:r>
              <a:rPr lang="en-US" sz="4000" dirty="0" err="1">
                <a:latin typeface="Bodoni MT" panose="02070603080606020203" pitchFamily="18" charset="0"/>
              </a:rPr>
              <a:t>satser</a:t>
            </a:r>
            <a:r>
              <a:rPr lang="en-US" sz="4000" dirty="0">
                <a:latin typeface="Bodoni MT" panose="02070603080606020203" pitchFamily="18" charset="0"/>
              </a:rPr>
              <a:t> Forts.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Ibland vill vi testa flera varianter av ett villkor, ”</a:t>
            </a:r>
            <a:r>
              <a:rPr lang="sv-SE" dirty="0" err="1"/>
              <a:t>if-else</a:t>
            </a:r>
            <a:r>
              <a:rPr lang="sv-SE" dirty="0"/>
              <a:t>” villkoret låter oss göra det:</a:t>
            </a:r>
          </a:p>
          <a:p>
            <a:endParaRPr lang="sv-SE" dirty="0"/>
          </a:p>
          <a:p>
            <a:endParaRPr lang="sv-SE" dirty="0"/>
          </a:p>
          <a:p>
            <a:endParaRPr lang="sv-SE" dirty="0"/>
          </a:p>
          <a:p>
            <a:r>
              <a:rPr lang="sv-SE" dirty="0"/>
              <a:t>Villkorsoperatorn</a:t>
            </a:r>
          </a:p>
          <a:p>
            <a:pPr lvl="1"/>
            <a:r>
              <a:rPr lang="sv-SE" dirty="0"/>
              <a:t>Ibland måste vi tilldela en variabel beroende på ett villkor.</a:t>
            </a:r>
          </a:p>
          <a:p>
            <a:pPr lvl="1"/>
            <a:r>
              <a:rPr lang="sv-SE" dirty="0"/>
              <a:t>Villkorsoperatorn tillåter oss göra det kortare. Operatorn</a:t>
            </a:r>
            <a:br>
              <a:rPr lang="sv-SE" dirty="0"/>
            </a:br>
            <a:r>
              <a:rPr lang="sv-SE" dirty="0"/>
              <a:t>representeras av ett frågetecken ”?”. Ibland kallas den för </a:t>
            </a:r>
            <a:br>
              <a:rPr lang="sv-SE" dirty="0"/>
            </a:br>
            <a:r>
              <a:rPr lang="sv-SE" dirty="0"/>
              <a:t>”</a:t>
            </a:r>
            <a:r>
              <a:rPr lang="sv-SE" dirty="0" err="1"/>
              <a:t>ternary</a:t>
            </a:r>
            <a:r>
              <a:rPr lang="sv-SE" dirty="0"/>
              <a:t>” operatorn.</a:t>
            </a:r>
          </a:p>
          <a:p>
            <a:pPr lvl="1"/>
            <a:endParaRPr lang="sv-SE" dirty="0"/>
          </a:p>
          <a:p>
            <a:pPr lvl="1"/>
            <a:r>
              <a:rPr lang="sv-SE" dirty="0"/>
              <a:t>Villkoret utvärderas: om det är sant, returneras värde 1, annars värde 2.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r>
              <a:rPr lang="sv-SE" dirty="0"/>
              <a:t>Tekniskt kan vi utelämna </a:t>
            </a:r>
            <a:r>
              <a:rPr lang="sv-SE" dirty="0" err="1"/>
              <a:t>paranteserna</a:t>
            </a:r>
            <a:r>
              <a:rPr lang="sv-SE" dirty="0"/>
              <a:t> runt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age &gt; 18</a:t>
            </a:r>
          </a:p>
        </p:txBody>
      </p:sp>
      <p:pic>
        <p:nvPicPr>
          <p:cNvPr id="8" name="Picture 7" descr="A screenshot of a cell phone&#10;&#10;Description automatically generated">
            <a:extLst>
              <a:ext uri="{FF2B5EF4-FFF2-40B4-BE49-F238E27FC236}">
                <a16:creationId xmlns:a16="http://schemas.microsoft.com/office/drawing/2014/main" id="{12120D13-451E-457D-BB77-900DED89D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995" y="1095828"/>
            <a:ext cx="4800600" cy="1188148"/>
          </a:xfrm>
          <a:prstGeom prst="rect">
            <a:avLst/>
          </a:prstGeom>
          <a:noFill/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FC12533-E950-41CD-B40E-580A1972C4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568" y="2350284"/>
            <a:ext cx="2629261" cy="14138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5BC0DE-B409-4E9C-96A8-2B889D6E09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2532" y="4193026"/>
            <a:ext cx="4629715" cy="3809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7A4A4-9BC0-4268-B028-D1981EEC14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2532" y="5070905"/>
            <a:ext cx="5270610" cy="494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738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Bodoni MT" panose="02070603080606020203" pitchFamily="18" charset="0"/>
              </a:rPr>
              <a:t>Loopar</a:t>
            </a:r>
            <a:r>
              <a:rPr lang="en-US" sz="4000" dirty="0">
                <a:latin typeface="Bodoni MT" panose="02070603080606020203" pitchFamily="18" charset="0"/>
              </a:rPr>
              <a:t>: while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Vi behöver ofta upprepa saker, till exempel mata ut varor från en lista efter varandra eller bara köra samma kod för varje nummer från 1 till 10.</a:t>
            </a:r>
          </a:p>
          <a:p>
            <a:r>
              <a:rPr lang="sv-SE" dirty="0"/>
              <a:t>Loopar är ett sätt att upprepa samma kod flera gånger.</a:t>
            </a:r>
          </a:p>
          <a:p>
            <a:r>
              <a:rPr lang="sv-SE" dirty="0" err="1"/>
              <a:t>While</a:t>
            </a:r>
            <a:r>
              <a:rPr lang="sv-SE" dirty="0"/>
              <a:t>-loopen</a:t>
            </a:r>
          </a:p>
          <a:p>
            <a:pPr lvl="1"/>
            <a:r>
              <a:rPr lang="sv-SE" dirty="0"/>
              <a:t>Har följande syntax:</a:t>
            </a:r>
          </a:p>
          <a:p>
            <a:pPr lvl="1"/>
            <a:endParaRPr lang="sv-SE" dirty="0"/>
          </a:p>
          <a:p>
            <a:pPr lvl="1"/>
            <a:r>
              <a:rPr lang="sv-SE" dirty="0"/>
              <a:t>Om villkoret är sant körs kodblocket.</a:t>
            </a:r>
          </a:p>
          <a:p>
            <a:pPr lvl="1"/>
            <a:r>
              <a:rPr lang="sv-SE" dirty="0"/>
              <a:t>Till exempel skriver följande </a:t>
            </a:r>
            <a:r>
              <a:rPr lang="sv-SE" dirty="0" err="1"/>
              <a:t>while</a:t>
            </a:r>
            <a:r>
              <a:rPr lang="sv-SE" dirty="0"/>
              <a:t>-loop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</a:t>
            </a:r>
            <a:r>
              <a:rPr lang="sv-SE" dirty="0"/>
              <a:t> medan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 &lt; 3</a:t>
            </a:r>
            <a:r>
              <a:rPr lang="sv-SE" dirty="0"/>
              <a:t>.</a:t>
            </a:r>
          </a:p>
          <a:p>
            <a:pPr lvl="1"/>
            <a:r>
              <a:rPr lang="sv-SE" dirty="0"/>
              <a:t>En enda exekvering av loopen kallas en iteration. Loopen</a:t>
            </a:r>
            <a:br>
              <a:rPr lang="sv-SE" dirty="0"/>
            </a:br>
            <a:r>
              <a:rPr lang="sv-SE" dirty="0"/>
              <a:t>gör tre iterationer. Om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i++ </a:t>
            </a:r>
            <a:r>
              <a:rPr lang="sv-SE" dirty="0"/>
              <a:t>saknades skulle loopen</a:t>
            </a:r>
            <a:br>
              <a:rPr lang="sv-SE" dirty="0"/>
            </a:br>
            <a:r>
              <a:rPr lang="sv-SE" dirty="0"/>
              <a:t>upprepa (i teorin) för alltid.</a:t>
            </a:r>
          </a:p>
          <a:p>
            <a:r>
              <a:rPr lang="sv-SE" dirty="0"/>
              <a:t>Do-</a:t>
            </a:r>
            <a:r>
              <a:rPr lang="sv-SE" dirty="0" err="1"/>
              <a:t>While</a:t>
            </a:r>
            <a:r>
              <a:rPr lang="sv-SE" dirty="0"/>
              <a:t>-loopen</a:t>
            </a:r>
          </a:p>
          <a:p>
            <a:pPr lvl="1"/>
            <a:r>
              <a:rPr lang="sv-SE" dirty="0"/>
              <a:t>Villkoret kan flyttas under kodblocket om man vill köra det innan man kollar villkoret: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4D352B-E199-4BB6-BC7E-F56B4E911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654" y="2079959"/>
            <a:ext cx="3371850" cy="9334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2D2EF4-3624-4D38-A9FD-27367FB66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3115" y="3311192"/>
            <a:ext cx="3790950" cy="1066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414650-1481-4CEE-BAA8-F26E2C1337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0160" y="5987886"/>
            <a:ext cx="3762375" cy="6667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97AA426-7E70-4F68-9136-A32CC3124F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895" y="5633471"/>
            <a:ext cx="3238500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0038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Bodoni MT" panose="02070603080606020203" pitchFamily="18" charset="0"/>
              </a:rPr>
              <a:t>Loopar</a:t>
            </a:r>
            <a:r>
              <a:rPr lang="en-US" sz="4000" dirty="0">
                <a:latin typeface="Bodoni MT" panose="02070603080606020203" pitchFamily="18" charset="0"/>
              </a:rPr>
              <a:t>: For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For-loopen är den vanligaste loopen.</a:t>
            </a:r>
          </a:p>
          <a:p>
            <a:endParaRPr lang="sv-SE" dirty="0"/>
          </a:p>
          <a:p>
            <a:endParaRPr lang="sv-SE" dirty="0"/>
          </a:p>
          <a:p>
            <a:r>
              <a:rPr lang="sv-SE" dirty="0"/>
              <a:t>Loopen kör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alert(i)</a:t>
            </a:r>
            <a:r>
              <a:rPr lang="sv-SE" dirty="0"/>
              <a:t> för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</a:t>
            </a:r>
            <a:r>
              <a:rPr lang="sv-SE" dirty="0"/>
              <a:t> från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</a:t>
            </a:r>
            <a:r>
              <a:rPr lang="sv-SE" dirty="0"/>
              <a:t> upp till (men inkluderar inte)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</a:t>
            </a:r>
          </a:p>
          <a:p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endParaRPr lang="sv-S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F25E91-4AD2-4887-8475-18800D71D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672" y="1135480"/>
            <a:ext cx="3876675" cy="7048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225AF68-AC95-4B93-A142-999589971D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4672" y="2402146"/>
            <a:ext cx="5724525" cy="771525"/>
          </a:xfrm>
          <a:prstGeom prst="rect">
            <a:avLst/>
          </a:prstGeom>
        </p:spPr>
      </p:pic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55ED9154-9BC6-4354-851E-A86BBA399A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547501"/>
              </p:ext>
            </p:extLst>
          </p:nvPr>
        </p:nvGraphicFramePr>
        <p:xfrm>
          <a:off x="1494672" y="3502560"/>
          <a:ext cx="9493893" cy="1752600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1649581">
                  <a:extLst>
                    <a:ext uri="{9D8B030D-6E8A-4147-A177-3AD203B41FA5}">
                      <a16:colId xmlns:a16="http://schemas.microsoft.com/office/drawing/2014/main" val="509907113"/>
                    </a:ext>
                  </a:extLst>
                </a:gridCol>
                <a:gridCol w="1957136">
                  <a:extLst>
                    <a:ext uri="{9D8B030D-6E8A-4147-A177-3AD203B41FA5}">
                      <a16:colId xmlns:a16="http://schemas.microsoft.com/office/drawing/2014/main" val="1306976198"/>
                    </a:ext>
                  </a:extLst>
                </a:gridCol>
                <a:gridCol w="5887176">
                  <a:extLst>
                    <a:ext uri="{9D8B030D-6E8A-4147-A177-3AD203B41FA5}">
                      <a16:colId xmlns:a16="http://schemas.microsoft.com/office/drawing/2014/main" val="4268497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sv-SE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begin</a:t>
                      </a:r>
                      <a:endParaRPr lang="sv-SE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i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Körs en gång när in i loopen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637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condition</a:t>
                      </a:r>
                      <a:endParaRPr lang="sv-SE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i &lt;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Kontrolleras före varje loop-iteration. Om det är falskt stannar loopen.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478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body</a:t>
                      </a:r>
                      <a:endParaRPr lang="sv-SE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alert(i)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Körs om och om medan villkoret är sant.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93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i++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Körs efter kroppen på varje iteration.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106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31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Switch-</a:t>
            </a:r>
            <a:r>
              <a:rPr lang="en-US" sz="4000" dirty="0" err="1">
                <a:latin typeface="Bodoni MT" panose="02070603080606020203" pitchFamily="18" charset="0"/>
              </a:rPr>
              <a:t>satsen</a:t>
            </a:r>
            <a:endParaRPr lang="en-US" sz="4000" dirty="0">
              <a:latin typeface="Bodoni MT" panose="02070603080606020203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En switch-sats kan ersätta flera </a:t>
            </a:r>
            <a:r>
              <a:rPr lang="sv-SE" dirty="0" err="1"/>
              <a:t>if</a:t>
            </a:r>
            <a:r>
              <a:rPr lang="sv-SE" dirty="0"/>
              <a:t>-satser. Det ger ett mer beskrivande sätt att jämföra ett värde med flera varianter.</a:t>
            </a:r>
          </a:p>
          <a:p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Switch-satsen har ett eller flera fall ”</a:t>
            </a:r>
            <a:r>
              <a:rPr lang="sv-SE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case</a:t>
            </a: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”-block och ett default block som är valfritt och körs bara om inte någon av de andra fallen inte körs.</a:t>
            </a:r>
          </a:p>
          <a:p>
            <a:endParaRPr lang="sv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Steg för steg</a:t>
            </a:r>
          </a:p>
          <a:p>
            <a:pPr lvl="1"/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Värdet x kontrolleras för en strikt likhet med värdet från det</a:t>
            </a:r>
            <a:b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första fallet (dvs value1) sedan till det andra (value2) och så</a:t>
            </a:r>
            <a:b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vidare.</a:t>
            </a:r>
          </a:p>
          <a:p>
            <a:pPr lvl="1"/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Och likhet hittas, körs koden i blocket under fallet.</a:t>
            </a:r>
          </a:p>
          <a:p>
            <a:pPr lvl="1"/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Om inget fall matchar, körs </a:t>
            </a:r>
            <a:r>
              <a:rPr lang="sv-SE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defaultkoden</a:t>
            </a:r>
            <a:r>
              <a:rPr lang="sv-SE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(om den finns).</a:t>
            </a:r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endParaRPr lang="sv-SE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endParaRPr lang="sv-S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E33D04-0514-4F3B-B578-DDF6EBA12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6826" y="1789215"/>
            <a:ext cx="3090671" cy="20140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6D7BEE-F96F-432F-B2E7-BCF19C0B5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6826" y="3905715"/>
            <a:ext cx="3494733" cy="292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6738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Bodoni MT" panose="02070603080606020203" pitchFamily="18" charset="0"/>
              </a:rPr>
              <a:t>Funktioner</a:t>
            </a:r>
            <a:endParaRPr lang="en-US" sz="4000" dirty="0">
              <a:latin typeface="Bodoni MT" panose="02070603080606020203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Väldigt ofta måste vi utföra samma uppgift på många platser i ett program, tex visa ett meddelande, göra en beräkning, logga in eller ut en användare osv.</a:t>
            </a:r>
          </a:p>
          <a:p>
            <a:r>
              <a:rPr lang="sv-SE" dirty="0"/>
              <a:t>Funktioner tillåter ett block kod grupperas och anropas utan att repetera koden.</a:t>
            </a:r>
          </a:p>
          <a:p>
            <a:r>
              <a:rPr lang="sv-SE" b="1" dirty="0"/>
              <a:t>Funktionsdeklaration</a:t>
            </a:r>
          </a:p>
          <a:p>
            <a:pPr marL="800100" lvl="1" indent="-342900">
              <a:buFont typeface="+mj-lt"/>
              <a:buAutoNum type="arabicPeriod"/>
            </a:pPr>
            <a:r>
              <a:rPr lang="sv-SE" dirty="0"/>
              <a:t>nyckelordet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function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sv-SE" dirty="0"/>
              <a:t>kommer först,</a:t>
            </a:r>
          </a:p>
          <a:p>
            <a:pPr marL="800100" lvl="1" indent="-342900">
              <a:buFont typeface="+mj-lt"/>
              <a:buAutoNum type="arabicPeriod"/>
            </a:pPr>
            <a:r>
              <a:rPr lang="sv-SE" dirty="0"/>
              <a:t>sedan kommer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namnet</a:t>
            </a:r>
            <a:r>
              <a:rPr lang="sv-SE" dirty="0"/>
              <a:t> på funktionen, </a:t>
            </a:r>
          </a:p>
          <a:p>
            <a:pPr marL="800100" lvl="1" indent="-342900">
              <a:buFont typeface="+mj-lt"/>
              <a:buAutoNum type="arabicPeriod"/>
            </a:pPr>
            <a:r>
              <a:rPr lang="sv-SE" dirty="0"/>
              <a:t>sedan en lista över parametrar mellan parenteserna (kommaseparerade)</a:t>
            </a:r>
          </a:p>
          <a:p>
            <a:pPr marL="800100" lvl="1" indent="-342900">
              <a:buFont typeface="+mj-lt"/>
              <a:buAutoNum type="arabicPeriod"/>
            </a:pPr>
            <a:r>
              <a:rPr lang="sv-SE" dirty="0"/>
              <a:t>slutligen funktionskoden mellan måsvingarna. </a:t>
            </a:r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r>
              <a:rPr lang="sv-SE" dirty="0"/>
              <a:t>Fördelar</a:t>
            </a:r>
          </a:p>
          <a:p>
            <a:pPr lvl="1"/>
            <a:r>
              <a:rPr lang="sv-SE" dirty="0"/>
              <a:t>Slipper duplicera kod</a:t>
            </a:r>
          </a:p>
          <a:p>
            <a:pPr lvl="1"/>
            <a:r>
              <a:rPr lang="sv-SE" dirty="0"/>
              <a:t>Behöver bara göra ändringar på ett ställe i koden</a:t>
            </a:r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lvl="1"/>
            <a:endParaRPr lang="sv-S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1F5BBD-73D4-4569-9D04-499B749DA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25616"/>
            <a:ext cx="3524250" cy="676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CB7920-71A7-42C2-B22D-A6422279E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2823" y="3956110"/>
            <a:ext cx="676275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380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Bodoni MT" panose="02070603080606020203" pitchFamily="18" charset="0"/>
              </a:rPr>
              <a:t>Funktioner</a:t>
            </a:r>
            <a:r>
              <a:rPr lang="en-US" sz="4000" dirty="0">
                <a:latin typeface="Bodoni MT" panose="02070603080606020203" pitchFamily="18" charset="0"/>
              </a:rPr>
              <a:t> FORTS.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Lokala variabler</a:t>
            </a:r>
          </a:p>
          <a:p>
            <a:pPr lvl="1"/>
            <a:r>
              <a:rPr lang="sv-SE" dirty="0"/>
              <a:t>En variabel som deklareras inuti en funktion är endast synlig inuti den funktionen:</a:t>
            </a:r>
          </a:p>
          <a:p>
            <a:pPr lvl="1"/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342900" indent="-342900">
              <a:buFont typeface="+mj-lt"/>
              <a:buAutoNum type="arabicPeriod"/>
            </a:pPr>
            <a:endParaRPr lang="sv-SE" dirty="0"/>
          </a:p>
          <a:p>
            <a:r>
              <a:rPr lang="sv-SE" dirty="0"/>
              <a:t>Yttre variabler</a:t>
            </a:r>
          </a:p>
          <a:p>
            <a:pPr lvl="1"/>
            <a:r>
              <a:rPr lang="sv-SE" dirty="0"/>
              <a:t>Funktioner kan också komma åt yttre variabler: 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lvl="1"/>
            <a:endParaRPr lang="sv-S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E2B23D-5CB4-47B8-8065-B0E4524C7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056" y="1443528"/>
            <a:ext cx="5984596" cy="181992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C8D876D-20C1-462D-968B-BDF504674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9056" y="4385575"/>
            <a:ext cx="657225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490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Bodoni MT" panose="02070603080606020203" pitchFamily="18" charset="0"/>
              </a:rPr>
              <a:t>Funktioner</a:t>
            </a:r>
            <a:r>
              <a:rPr lang="en-US" sz="4000" dirty="0">
                <a:latin typeface="Bodoni MT" panose="02070603080606020203" pitchFamily="18" charset="0"/>
              </a:rPr>
              <a:t> FORTS.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Parametrar</a:t>
            </a:r>
          </a:p>
          <a:p>
            <a:pPr lvl="1"/>
            <a:r>
              <a:rPr lang="sv-SE" dirty="0"/>
              <a:t>Vi kan tillhandahålla data till funktionerna med hjälp av parametrar, i exemplet har funktionen två parametrar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from</a:t>
            </a:r>
            <a:r>
              <a:rPr lang="sv-SE" dirty="0"/>
              <a:t> och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text</a:t>
            </a:r>
            <a:r>
              <a:rPr lang="sv-SE" dirty="0"/>
              <a:t>:</a:t>
            </a:r>
          </a:p>
          <a:p>
            <a:pPr lvl="1"/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lvl="1"/>
            <a:r>
              <a:rPr lang="sv-SE" dirty="0"/>
              <a:t>När funktionen anropas i raderna (*) och (**) kopieras de givna värdena till lokala variabler from och text. Sedan använder funktionen dem.</a:t>
            </a:r>
          </a:p>
          <a:p>
            <a:r>
              <a:rPr lang="sv-SE" dirty="0"/>
              <a:t>Default värden</a:t>
            </a:r>
          </a:p>
          <a:p>
            <a:pPr lvl="1"/>
            <a:r>
              <a:rPr lang="sv-SE" dirty="0"/>
              <a:t>Om en parameter inte tillhandahålls, blir dess värde odefinierat. Till exempel kan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showMessage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(from, text)</a:t>
            </a:r>
            <a:r>
              <a:rPr lang="sv-SE" dirty="0"/>
              <a:t> anropas med en parameter:</a:t>
            </a:r>
          </a:p>
          <a:p>
            <a:pPr lvl="1"/>
            <a:r>
              <a:rPr lang="sv-SE" dirty="0"/>
              <a:t>Det är inte ett fel ett sådant anrop skulle skriva ut ”Ann: </a:t>
            </a:r>
            <a:r>
              <a:rPr lang="sv-SE" dirty="0" err="1"/>
              <a:t>undefined</a:t>
            </a:r>
            <a:r>
              <a:rPr lang="sv-SE" dirty="0"/>
              <a:t>”. Det finns ingen text, så det antas att text === </a:t>
            </a:r>
            <a:r>
              <a:rPr lang="sv-SE" dirty="0" err="1"/>
              <a:t>undefined</a:t>
            </a:r>
            <a:r>
              <a:rPr lang="sv-SE" dirty="0"/>
              <a:t>. Om vi vill använda en ”standard”-text i det här fallet, kan vi ange den efter =</a:t>
            </a:r>
          </a:p>
          <a:p>
            <a:pPr lvl="1"/>
            <a:endParaRPr lang="sv-SE" dirty="0"/>
          </a:p>
          <a:p>
            <a:pPr marL="800100" lvl="1" indent="-342900">
              <a:buFont typeface="+mj-lt"/>
              <a:buAutoNum type="arabicPeriod"/>
            </a:pPr>
            <a:endParaRPr lang="sv-SE" dirty="0"/>
          </a:p>
          <a:p>
            <a:pPr lvl="1"/>
            <a:endParaRPr lang="sv-S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BD0C9-1764-481E-945A-F2817B4C0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548" y="1800323"/>
            <a:ext cx="6029325" cy="1409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A90C9B-33CC-48DF-9F37-70D976B82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1077" y="4803406"/>
            <a:ext cx="5857875" cy="4000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DF33B89-6035-4328-ACFC-AA1CEE0F95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0385" y="5779265"/>
            <a:ext cx="6224833" cy="1078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0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Arrow functions (</a:t>
            </a:r>
            <a:r>
              <a:rPr lang="en-US" sz="4000">
                <a:latin typeface="Bodoni MT" panose="02070603080606020203" pitchFamily="18" charset="0"/>
              </a:rPr>
              <a:t>pil-funktioner)</a:t>
            </a:r>
            <a:endParaRPr lang="en-US" sz="4000" dirty="0">
              <a:latin typeface="Bodoni MT" panose="02070603080606020203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70"/>
            <a:ext cx="10178322" cy="5975366"/>
          </a:xfrm>
        </p:spPr>
        <p:txBody>
          <a:bodyPr>
            <a:normAutofit/>
          </a:bodyPr>
          <a:lstStyle/>
          <a:p>
            <a:r>
              <a:rPr lang="sv-SE" dirty="0"/>
              <a:t>’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Arrow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functions</a:t>
            </a:r>
            <a:r>
              <a:rPr lang="sv-SE" dirty="0"/>
              <a:t>’ är ett mer kortfattad sätt att skapa funktioner:</a:t>
            </a:r>
          </a:p>
          <a:p>
            <a:endParaRPr lang="sv-SE" dirty="0"/>
          </a:p>
          <a:p>
            <a:r>
              <a:rPr lang="sv-SE" dirty="0"/>
              <a:t>Detta skapar en funktion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func</a:t>
            </a:r>
            <a:r>
              <a:rPr lang="sv-SE" dirty="0"/>
              <a:t> som accepterar argument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arg1, arg2, …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argN</a:t>
            </a:r>
            <a:r>
              <a:rPr lang="sv-SE" dirty="0"/>
              <a:t>, utvärderar sedan uttrycket på höger sida och returnerar dess resultat. Det är förkortning på:</a:t>
            </a:r>
          </a:p>
          <a:p>
            <a:endParaRPr lang="sv-SE" dirty="0"/>
          </a:p>
          <a:p>
            <a:endParaRPr lang="sv-SE" dirty="0"/>
          </a:p>
          <a:p>
            <a:r>
              <a:rPr lang="sv-SE" dirty="0"/>
              <a:t>Ett mer konkret exempel:</a:t>
            </a:r>
          </a:p>
          <a:p>
            <a:r>
              <a:rPr lang="sv-SE" dirty="0"/>
              <a:t>Som du kan se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(a, b) =&gt; a + b</a:t>
            </a:r>
            <a:r>
              <a:rPr lang="sv-SE" dirty="0"/>
              <a:t> betyder en funktion som accepterar två argument med namnet</a:t>
            </a:r>
            <a:br>
              <a:rPr lang="sv-SE" dirty="0"/>
            </a:b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</a:t>
            </a:r>
            <a:r>
              <a:rPr lang="sv-SE" dirty="0"/>
              <a:t> och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</a:t>
            </a:r>
            <a:r>
              <a:rPr lang="sv-SE" dirty="0"/>
              <a:t>.  Vid körningen utvärderar det uttrycket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 + b </a:t>
            </a:r>
            <a:r>
              <a:rPr lang="sv-SE" dirty="0"/>
              <a:t>och returnerar resultatet. </a:t>
            </a:r>
          </a:p>
          <a:p>
            <a:r>
              <a:rPr lang="sv-SE" dirty="0" err="1"/>
              <a:t>Multiline</a:t>
            </a:r>
            <a:r>
              <a:rPr lang="sv-SE" dirty="0"/>
              <a:t> Arrow-</a:t>
            </a:r>
            <a:r>
              <a:rPr lang="sv-SE" dirty="0" err="1"/>
              <a:t>function</a:t>
            </a:r>
            <a:endParaRPr lang="sv-SE" dirty="0"/>
          </a:p>
          <a:p>
            <a:pPr lvl="1"/>
            <a:r>
              <a:rPr lang="sv-SE" dirty="0"/>
              <a:t>Ibland behöver vi använda flera uttryck och det gör vi genom att kapsla uttrycken med måsvingar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{ }</a:t>
            </a:r>
            <a:r>
              <a:rPr lang="sv-SE" dirty="0"/>
              <a:t>, skulle vi vilja returnera data använder vi sedan ett normal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return</a:t>
            </a:r>
            <a:r>
              <a:rPr lang="sv-SE" dirty="0"/>
              <a:t> värde.</a:t>
            </a:r>
          </a:p>
          <a:p>
            <a:pPr lvl="1"/>
            <a:endParaRPr lang="sv-S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FC0F5C-E19F-400F-9C46-33A50AADD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08" y="1065743"/>
            <a:ext cx="4229100" cy="4191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2196D9-948A-4477-B8AA-6EB763D6D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08" y="2329113"/>
            <a:ext cx="4010025" cy="723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AD62EC-FFCE-43D8-8D13-618EB4439B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5258" y="3191636"/>
            <a:ext cx="5267325" cy="342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BA8C4F-11BE-47D9-A0B7-4CF74EE2B9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3521" y="3172586"/>
            <a:ext cx="5905500" cy="38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DA54C30-E596-4F32-A5A3-FB6526C8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7008" y="5416906"/>
            <a:ext cx="6877050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2932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Object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69"/>
            <a:ext cx="10178322" cy="6507593"/>
          </a:xfrm>
        </p:spPr>
        <p:txBody>
          <a:bodyPr>
            <a:normAutofit/>
          </a:bodyPr>
          <a:lstStyle/>
          <a:p>
            <a:r>
              <a:rPr lang="sv-SE" dirty="0" err="1"/>
              <a:t>Object</a:t>
            </a:r>
            <a:endParaRPr lang="sv-SE" dirty="0"/>
          </a:p>
          <a:p>
            <a:pPr lvl="1"/>
            <a:r>
              <a:rPr lang="sv-SE" dirty="0"/>
              <a:t>Som vi vet från delen Datatyper finns det 6 viktiga datatyper. 5 av dem kallas ”primitiva”, eftersom deras värden endast innehåller en enda sak (vare sig det är en sträng eller nummer).</a:t>
            </a:r>
          </a:p>
          <a:p>
            <a:pPr lvl="1"/>
            <a:r>
              <a:rPr lang="sv-SE" dirty="0"/>
              <a:t>Däremot används objekt att lagra flera datatyper i en enhet. I </a:t>
            </a:r>
            <a:r>
              <a:rPr lang="sv-SE" dirty="0" err="1"/>
              <a:t>Javascript</a:t>
            </a:r>
            <a:r>
              <a:rPr lang="sv-SE" dirty="0"/>
              <a:t> är objekt väldigt viktiga och vanliga.</a:t>
            </a:r>
          </a:p>
          <a:p>
            <a:pPr lvl="1"/>
            <a:r>
              <a:rPr lang="sv-SE" dirty="0"/>
              <a:t>Ett objekt skapas med måsvingar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{ … } </a:t>
            </a:r>
            <a:r>
              <a:rPr lang="sv-SE" dirty="0"/>
              <a:t>med en valfri lista över egenskaper.  En egenskap är ett ”</a:t>
            </a:r>
            <a:r>
              <a:rPr lang="sv-SE" dirty="0" err="1"/>
              <a:t>key</a:t>
            </a:r>
            <a:r>
              <a:rPr lang="sv-SE" dirty="0"/>
              <a:t>:  </a:t>
            </a:r>
            <a:r>
              <a:rPr lang="sv-SE" dirty="0" err="1"/>
              <a:t>value</a:t>
            </a:r>
            <a:r>
              <a:rPr lang="sv-SE" dirty="0"/>
              <a:t>”-par, där nyckeln är en sträng och värden kan vara vad som helst.</a:t>
            </a:r>
          </a:p>
          <a:p>
            <a:pPr lvl="1"/>
            <a:r>
              <a:rPr lang="sv-SE" dirty="0"/>
              <a:t>Ett tomt objekt kan skapas med hjälp av en av två syntaxer: 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r>
              <a:rPr lang="sv-SE" dirty="0"/>
              <a:t>Vi kan </a:t>
            </a:r>
            <a:r>
              <a:rPr lang="sv-SE" dirty="0" err="1"/>
              <a:t>omdelbart</a:t>
            </a:r>
            <a:r>
              <a:rPr lang="sv-SE" dirty="0"/>
              <a:t> lägga till några egenskaper i { … } som ”</a:t>
            </a:r>
            <a:r>
              <a:rPr lang="sv-SE" dirty="0" err="1"/>
              <a:t>key</a:t>
            </a:r>
            <a:r>
              <a:rPr lang="sv-SE" dirty="0"/>
              <a:t>: </a:t>
            </a:r>
            <a:r>
              <a:rPr lang="sv-SE" dirty="0" err="1"/>
              <a:t>value</a:t>
            </a:r>
            <a:r>
              <a:rPr lang="sv-SE" dirty="0"/>
              <a:t>”-par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r>
              <a:rPr lang="sv-SE" dirty="0"/>
              <a:t>Den första egenskapen har namnet ”</a:t>
            </a:r>
            <a:r>
              <a:rPr lang="sv-SE" dirty="0" err="1"/>
              <a:t>name</a:t>
            </a:r>
            <a:r>
              <a:rPr lang="sv-SE" dirty="0"/>
              <a:t>” och värdet ”John”.</a:t>
            </a:r>
          </a:p>
          <a:p>
            <a:pPr lvl="1"/>
            <a:r>
              <a:rPr lang="sv-SE" dirty="0"/>
              <a:t>Den andra har namnet ”age” och värdet 30.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611ED8-8CEF-4B61-9C1E-6794A8230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507" y="3666953"/>
            <a:ext cx="6496050" cy="5619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03090B-E909-4CEA-A59C-3EC31D4711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5507" y="4756771"/>
            <a:ext cx="6534150" cy="101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9423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Array (</a:t>
            </a:r>
            <a:r>
              <a:rPr lang="en-US" sz="4000" dirty="0" err="1">
                <a:latin typeface="Bodoni MT" panose="02070603080606020203" pitchFamily="18" charset="0"/>
              </a:rPr>
              <a:t>Listor</a:t>
            </a:r>
            <a:r>
              <a:rPr lang="en-US" sz="4000" dirty="0">
                <a:latin typeface="Bodoni MT" panose="02070603080606020203" pitchFamily="18" charset="0"/>
              </a:rPr>
              <a:t>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69"/>
            <a:ext cx="10178322" cy="5946119"/>
          </a:xfrm>
        </p:spPr>
        <p:txBody>
          <a:bodyPr>
            <a:normAutofit/>
          </a:bodyPr>
          <a:lstStyle/>
          <a:p>
            <a:r>
              <a:rPr lang="sv-SE" dirty="0"/>
              <a:t>Array är en datastruktur för att lagra en ordnad lista av datatyper.</a:t>
            </a:r>
          </a:p>
          <a:p>
            <a:r>
              <a:rPr lang="sv-SE" dirty="0"/>
              <a:t>Deklaration</a:t>
            </a:r>
          </a:p>
          <a:p>
            <a:pPr lvl="1"/>
            <a:r>
              <a:rPr lang="sv-SE" dirty="0"/>
              <a:t>Det finns två syntaxer för att skapa en tom </a:t>
            </a:r>
            <a:r>
              <a:rPr lang="sv-SE" dirty="0" err="1"/>
              <a:t>array</a:t>
            </a:r>
            <a:r>
              <a:rPr lang="sv-SE" dirty="0"/>
              <a:t>:</a:t>
            </a:r>
          </a:p>
          <a:p>
            <a:pPr lvl="1"/>
            <a:r>
              <a:rPr lang="sv-SE" dirty="0"/>
              <a:t>Nästan alltid används den andra syntaxen och man kan initiera den med data innanför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[ … ]</a:t>
            </a:r>
            <a:r>
              <a:rPr lang="sv-SE" dirty="0"/>
              <a:t> klamrarna:   </a:t>
            </a:r>
          </a:p>
          <a:p>
            <a:pPr lvl="1"/>
            <a:endParaRPr lang="sv-SE" dirty="0"/>
          </a:p>
          <a:p>
            <a:pPr lvl="1"/>
            <a:r>
              <a:rPr lang="sv-SE" dirty="0"/>
              <a:t>Array-elementen är numrerade, och börjar med noll.  Vi kan få ett element med dess nummer (index):  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r>
              <a:rPr lang="sv-SE" dirty="0"/>
              <a:t>Vi kan tilldela ett element ett nytt värde: </a:t>
            </a:r>
          </a:p>
          <a:p>
            <a:pPr lvl="1"/>
            <a:endParaRPr lang="sv-SE" dirty="0"/>
          </a:p>
          <a:p>
            <a:pPr lvl="1"/>
            <a:r>
              <a:rPr lang="sv-SE" dirty="0"/>
              <a:t>Eller lägga till ett nytt värde till listan: </a:t>
            </a:r>
          </a:p>
          <a:p>
            <a:pPr lvl="1"/>
            <a:r>
              <a:rPr lang="sv-SE" dirty="0"/>
              <a:t>För att få listans längd dvs antal element i den kan vi använda egenskapen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length</a:t>
            </a:r>
            <a:r>
              <a:rPr lang="sv-SE" dirty="0"/>
              <a:t> på listan: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4BC747-0DE8-48FF-9C0F-800B84649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066" y="1275293"/>
            <a:ext cx="4000500" cy="533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9B62E-8720-4984-9DD5-C0389588B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8066" y="2391183"/>
            <a:ext cx="3962400" cy="371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E72CD2-2367-4F5F-B44F-4E089F4044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8066" y="3429000"/>
            <a:ext cx="3886200" cy="6667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2C8C24-D4E4-42EE-858E-DAC4A2E035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0420" y="4482223"/>
            <a:ext cx="5172075" cy="419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465874D-3CA5-4EEE-BED2-ACC701800B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49816" y="5287796"/>
            <a:ext cx="6477000" cy="3714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DA80B5-67D7-44BC-AC93-DB3D3A2ECC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0416" y="6234240"/>
            <a:ext cx="5638800" cy="29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668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Bodoni MT" panose="02070603080606020203" pitchFamily="18" charset="0"/>
              </a:rPr>
              <a:t>Metoder</a:t>
            </a:r>
            <a:r>
              <a:rPr lang="en-US" sz="4000" dirty="0">
                <a:latin typeface="Bodoni MT" panose="02070603080606020203" pitchFamily="18" charset="0"/>
              </a:rPr>
              <a:t> </a:t>
            </a:r>
            <a:r>
              <a:rPr lang="en-US" sz="4000" dirty="0" err="1">
                <a:latin typeface="Bodoni MT" panose="02070603080606020203" pitchFamily="18" charset="0"/>
              </a:rPr>
              <a:t>på</a:t>
            </a:r>
            <a:r>
              <a:rPr lang="en-US" sz="4000" dirty="0">
                <a:latin typeface="Bodoni MT" panose="02070603080606020203" pitchFamily="18" charset="0"/>
              </a:rPr>
              <a:t> Arrays (</a:t>
            </a:r>
            <a:r>
              <a:rPr lang="en-US" sz="4000" dirty="0" err="1">
                <a:latin typeface="Bodoni MT" panose="02070603080606020203" pitchFamily="18" charset="0"/>
              </a:rPr>
              <a:t>Listor</a:t>
            </a:r>
            <a:r>
              <a:rPr lang="en-US" sz="4000" dirty="0">
                <a:latin typeface="Bodoni MT" panose="02070603080606020203" pitchFamily="18" charset="0"/>
              </a:rPr>
              <a:t>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679269"/>
            <a:ext cx="10178322" cy="5946119"/>
          </a:xfrm>
        </p:spPr>
        <p:txBody>
          <a:bodyPr>
            <a:normAutofit/>
          </a:bodyPr>
          <a:lstStyle/>
          <a:p>
            <a:r>
              <a:rPr lang="sv-SE" dirty="0"/>
              <a:t>En </a:t>
            </a:r>
            <a:r>
              <a:rPr lang="sv-SE" dirty="0" err="1"/>
              <a:t>array</a:t>
            </a:r>
            <a:r>
              <a:rPr lang="sv-SE" dirty="0"/>
              <a:t> kan jämföras med en kö till kassan i en matbutik.</a:t>
            </a:r>
          </a:p>
          <a:p>
            <a:r>
              <a:rPr lang="sv-SE" dirty="0"/>
              <a:t>Metoder som arbetar med änden av en </a:t>
            </a:r>
            <a:r>
              <a:rPr lang="sv-SE" dirty="0" err="1"/>
              <a:t>array</a:t>
            </a:r>
            <a:endParaRPr lang="sv-SE" dirty="0"/>
          </a:p>
          <a:p>
            <a:pPr lvl="1"/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pop()</a:t>
            </a:r>
            <a:r>
              <a:rPr lang="sv-SE" dirty="0"/>
              <a:t> tar bort det sista elementet i </a:t>
            </a:r>
            <a:r>
              <a:rPr lang="sv-SE" dirty="0" err="1"/>
              <a:t>arrayen</a:t>
            </a:r>
            <a:r>
              <a:rPr lang="sv-SE" dirty="0"/>
              <a:t>/listan och returnerar det: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push() </a:t>
            </a:r>
            <a:r>
              <a:rPr lang="sv-SE" dirty="0"/>
              <a:t>lägger till elementet i slutet av </a:t>
            </a:r>
            <a:r>
              <a:rPr lang="sv-SE" dirty="0" err="1"/>
              <a:t>arrayen</a:t>
            </a:r>
            <a:r>
              <a:rPr lang="sv-SE" dirty="0"/>
              <a:t>/listan: 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marL="457200" lvl="1" indent="0">
              <a:buNone/>
            </a:pPr>
            <a:endParaRPr lang="sv-SE" dirty="0"/>
          </a:p>
          <a:p>
            <a:r>
              <a:rPr lang="sv-SE" dirty="0"/>
              <a:t>Metoder som arbetar med början av en </a:t>
            </a:r>
            <a:r>
              <a:rPr lang="sv-SE" dirty="0" err="1"/>
              <a:t>array</a:t>
            </a:r>
            <a:r>
              <a:rPr lang="sv-SE" dirty="0"/>
              <a:t>:</a:t>
            </a:r>
          </a:p>
          <a:p>
            <a:pPr lvl="1"/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shift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()</a:t>
            </a:r>
            <a:r>
              <a:rPr lang="sv-SE" dirty="0"/>
              <a:t> tar bort det första elementet i </a:t>
            </a:r>
            <a:r>
              <a:rPr lang="sv-SE" dirty="0" err="1"/>
              <a:t>arrayen</a:t>
            </a:r>
            <a:r>
              <a:rPr lang="sv-SE" dirty="0"/>
              <a:t>/listan och returnerar det: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174ABE-C73B-4E0C-AB09-5937463FE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545" y="1880711"/>
            <a:ext cx="4714875" cy="1104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17A3B6-236A-42EC-9882-F848870EF2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545" y="3429000"/>
            <a:ext cx="4638675" cy="11906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F802F90-C4FB-4521-BBBF-4B57B1F80A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4107" y="5465664"/>
            <a:ext cx="4857750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860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E078-3CB3-4D1F-8E4E-75C6D5DA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Bodoni MT" panose="02070603080606020203" pitchFamily="18" charset="0"/>
              </a:rPr>
              <a:t>Metoder</a:t>
            </a:r>
            <a:r>
              <a:rPr lang="en-US" sz="4000" dirty="0">
                <a:latin typeface="Bodoni MT" panose="02070603080606020203" pitchFamily="18" charset="0"/>
              </a:rPr>
              <a:t> </a:t>
            </a:r>
            <a:r>
              <a:rPr lang="en-US" sz="4000" dirty="0" err="1">
                <a:latin typeface="Bodoni MT" panose="02070603080606020203" pitchFamily="18" charset="0"/>
              </a:rPr>
              <a:t>på</a:t>
            </a:r>
            <a:r>
              <a:rPr lang="en-US" sz="4000" dirty="0">
                <a:latin typeface="Bodoni MT" panose="02070603080606020203" pitchFamily="18" charset="0"/>
              </a:rPr>
              <a:t> Arrays (</a:t>
            </a:r>
            <a:r>
              <a:rPr lang="en-US" sz="4000" dirty="0" err="1">
                <a:latin typeface="Bodoni MT" panose="02070603080606020203" pitchFamily="18" charset="0"/>
              </a:rPr>
              <a:t>Listor</a:t>
            </a:r>
            <a:r>
              <a:rPr lang="en-US" sz="4000" dirty="0">
                <a:latin typeface="Bodoni MT" panose="02070603080606020203" pitchFamily="18" charset="0"/>
              </a:rPr>
              <a:t>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6430F-1FDE-4D8C-8C11-DD7124791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434" y="537332"/>
            <a:ext cx="10178322" cy="5946119"/>
          </a:xfrm>
        </p:spPr>
        <p:txBody>
          <a:bodyPr>
            <a:normAutofit/>
          </a:bodyPr>
          <a:lstStyle/>
          <a:p>
            <a:r>
              <a:rPr lang="sv-SE" dirty="0"/>
              <a:t>Metoder som arbetar med början av en </a:t>
            </a:r>
            <a:r>
              <a:rPr lang="sv-SE" dirty="0" err="1"/>
              <a:t>array</a:t>
            </a:r>
            <a:r>
              <a:rPr lang="sv-SE" dirty="0"/>
              <a:t>:</a:t>
            </a:r>
          </a:p>
          <a:p>
            <a:pPr lvl="1"/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shift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()</a:t>
            </a:r>
            <a:r>
              <a:rPr lang="sv-SE" dirty="0"/>
              <a:t> tar bort det första elementet i </a:t>
            </a:r>
            <a:r>
              <a:rPr lang="sv-SE" dirty="0" err="1"/>
              <a:t>arrayen</a:t>
            </a:r>
            <a:r>
              <a:rPr lang="sv-SE" dirty="0"/>
              <a:t>/listan och returnerar det: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marL="457200" lvl="1" indent="0">
              <a:buNone/>
            </a:pPr>
            <a:endParaRPr lang="sv-SE" dirty="0"/>
          </a:p>
          <a:p>
            <a:pPr lvl="1"/>
            <a:endParaRPr lang="sv-SE" dirty="0"/>
          </a:p>
          <a:p>
            <a:pPr lvl="1"/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unshift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()</a:t>
            </a:r>
            <a:r>
              <a:rPr lang="sv-SE" dirty="0"/>
              <a:t> lägg till elementet i början av </a:t>
            </a:r>
            <a:r>
              <a:rPr lang="sv-SE" dirty="0" err="1"/>
              <a:t>arrayen</a:t>
            </a:r>
            <a:r>
              <a:rPr lang="sv-SE" dirty="0"/>
              <a:t>:</a:t>
            </a:r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endParaRPr lang="sv-SE" dirty="0"/>
          </a:p>
          <a:p>
            <a:pPr lvl="1"/>
            <a:r>
              <a:rPr lang="sv-SE" dirty="0"/>
              <a:t>Metoderna 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push() </a:t>
            </a:r>
            <a:r>
              <a:rPr lang="sv-SE" dirty="0"/>
              <a:t>och </a:t>
            </a:r>
            <a:r>
              <a:rPr lang="sv-S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unshift</a:t>
            </a:r>
            <a:r>
              <a:rPr lang="sv-S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()</a:t>
            </a:r>
            <a:r>
              <a:rPr lang="sv-SE" dirty="0"/>
              <a:t> kan lägga till flera element samtidigt: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F802F90-C4FB-4521-BBBF-4B57B1F80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516" y="1532856"/>
            <a:ext cx="4857750" cy="11239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59A29C-F19B-414D-B6F1-7D945135A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9516" y="3510392"/>
            <a:ext cx="4476750" cy="11620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2E54F7-012A-4D9D-9A30-173F925E5A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2758" y="5276850"/>
            <a:ext cx="5743575" cy="158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846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 hidden="1">
            <a:extLst>
              <a:ext uri="{FF2B5EF4-FFF2-40B4-BE49-F238E27FC236}">
                <a16:creationId xmlns:a16="http://schemas.microsoft.com/office/drawing/2014/main" id="{28A3E57F-DE9A-45F6-BEF3-EF8EEA07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2662" y="756357"/>
            <a:ext cx="8187071" cy="1253066"/>
          </a:xfrm>
        </p:spPr>
        <p:txBody>
          <a:bodyPr/>
          <a:lstStyle/>
          <a:p>
            <a:r>
              <a:rPr lang="en-US" dirty="0"/>
              <a:t>Slide Tite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CA1257-66A3-465A-A773-E2D1F421929F}"/>
              </a:ext>
            </a:extLst>
          </p:cNvPr>
          <p:cNvSpPr txBox="1"/>
          <p:nvPr/>
        </p:nvSpPr>
        <p:spPr>
          <a:xfrm>
            <a:off x="4828457" y="2721114"/>
            <a:ext cx="84871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Bodoni MT" panose="02070603080606020203" pitchFamily="18" charset="0"/>
              </a:rPr>
              <a:t>Lets Go Champ!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8FE451-9199-E25F-6EDD-4C8BF447FA44}"/>
              </a:ext>
            </a:extLst>
          </p:cNvPr>
          <p:cNvSpPr txBox="1"/>
          <p:nvPr/>
        </p:nvSpPr>
        <p:spPr>
          <a:xfrm>
            <a:off x="4190260" y="3604948"/>
            <a:ext cx="665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dirty="0"/>
              <a:t>https://www.youtube.com/watch?v=iVmyG1qNuPQ</a:t>
            </a:r>
          </a:p>
        </p:txBody>
      </p:sp>
    </p:spTree>
    <p:extLst>
      <p:ext uri="{BB962C8B-B14F-4D97-AF65-F5344CB8AC3E}">
        <p14:creationId xmlns:p14="http://schemas.microsoft.com/office/powerpoint/2010/main" val="10593490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/>
          </a:bodyPr>
          <a:lstStyle/>
          <a:p>
            <a:r>
              <a:rPr lang="sv-SE" sz="3600" dirty="0">
                <a:latin typeface="Bodoni MT" panose="02070603080606020203" pitchFamily="18" charset="0"/>
              </a:rPr>
              <a:t>Objektorienterad programmering</a:t>
            </a:r>
          </a:p>
        </p:txBody>
      </p:sp>
      <p:sp>
        <p:nvSpPr>
          <p:cNvPr id="3" name="Begrepp"/>
          <p:cNvSpPr txBox="1"/>
          <p:nvPr/>
        </p:nvSpPr>
        <p:spPr>
          <a:xfrm>
            <a:off x="1207008" y="914400"/>
            <a:ext cx="4297680" cy="539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sv-SE" sz="1800" dirty="0">
                <a:solidFill>
                  <a:srgbClr val="404040"/>
                </a:solidFill>
              </a:rPr>
              <a:t>I OOP samlar vi data och funktioner som hör ihop i objekt.</a:t>
            </a:r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sv-SE" sz="1700" b="1" dirty="0">
                <a:solidFill>
                  <a:srgbClr val="2A1A00"/>
                </a:solidFill>
              </a:rPr>
              <a:t>Klass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dirty="0">
                <a:solidFill>
                  <a:srgbClr val="404040"/>
                </a:solidFill>
              </a:rPr>
              <a:t>En mall eller ritning, som receptet för en glass.</a:t>
            </a:r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sv-SE" sz="1700" b="1" dirty="0">
                <a:solidFill>
                  <a:srgbClr val="2A1A00"/>
                </a:solidFill>
              </a:rPr>
              <a:t>Objekt / instans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dirty="0">
                <a:solidFill>
                  <a:srgbClr val="404040"/>
                </a:solidFill>
              </a:rPr>
              <a:t>En riktig glass som skapas från klassen.</a:t>
            </a:r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sv-SE" sz="1700" b="1" dirty="0">
                <a:solidFill>
                  <a:srgbClr val="2A1A00"/>
                </a:solidFill>
              </a:rPr>
              <a:t>Egenskaper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dirty="0">
                <a:solidFill>
                  <a:srgbClr val="404040"/>
                </a:solidFill>
              </a:rPr>
              <a:t>Data som objektet har, t.ex. smak och kulor.</a:t>
            </a:r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sv-SE" sz="1700" b="1" dirty="0">
                <a:solidFill>
                  <a:srgbClr val="2A1A00"/>
                </a:solidFill>
              </a:rPr>
              <a:t>Metoder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dirty="0">
                <a:solidFill>
                  <a:srgbClr val="404040"/>
                </a:solidFill>
              </a:rPr>
              <a:t>Saker objektet kan göra, t.ex. beskriv().</a:t>
            </a:r>
          </a:p>
          <a:p>
            <a:pPr marL="0" indent="0" algn="l">
              <a:spcBef>
                <a:spcPts val="1800"/>
              </a:spcBef>
              <a:spcAft>
                <a:spcPts val="0"/>
              </a:spcAft>
              <a:buNone/>
            </a:pPr>
            <a:r>
              <a:rPr lang="sv-SE" sz="1600" i="1" dirty="0">
                <a:solidFill>
                  <a:srgbClr val="6B6B6B"/>
                </a:solidFill>
              </a:rPr>
              <a:t>En klass, många objekt. Varje objekt har sina egna värden.</a:t>
            </a:r>
          </a:p>
        </p:txBody>
      </p:sp>
      <p:sp>
        <p:nvSpPr>
          <p:cNvPr id="4" name="Klass Glass"/>
          <p:cNvSpPr/>
          <p:nvPr/>
        </p:nvSpPr>
        <p:spPr>
          <a:xfrm>
            <a:off x="6766560" y="91440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F8B323"/>
          </a:solidFill>
          <a:ln>
            <a:noFill/>
          </a:ln>
          <a:effectLst>
            <a:outerShdw blurRad="76200" dist="25400" dir="5400000" algn="t" rotWithShape="0">
              <a:srgbClr val="000000">
                <a:alpha val="18000"/>
              </a:srgbClr>
            </a:outerShdw>
          </a:effectLst>
        </p:spPr>
        <p:txBody>
          <a:bodyPr wrap="square" lIns="182880" tIns="73152" rIns="182880" bIns="73152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100" b="1" dirty="0">
                <a:solidFill>
                  <a:srgbClr val="2A1A00"/>
                </a:solidFill>
              </a:rPr>
              <a:t>KLASS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2400" b="1" dirty="0">
                <a:solidFill>
                  <a:srgbClr val="2A1A00"/>
                </a:solidFill>
              </a:rPr>
              <a:t>Glass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dirty="0">
                <a:solidFill>
                  <a:srgbClr val="2A1A00"/>
                </a:solidFill>
                <a:latin typeface="Courier New"/>
                <a:cs typeface="Courier New"/>
              </a:rPr>
              <a:t>smak · kulor · pris() · beskriv()</a:t>
            </a:r>
          </a:p>
        </p:txBody>
      </p:sp>
      <p:sp>
        <p:nvSpPr>
          <p:cNvPr id="5" name="Pil"/>
          <p:cNvSpPr/>
          <p:nvPr/>
        </p:nvSpPr>
        <p:spPr>
          <a:xfrm>
            <a:off x="6611112" y="2450592"/>
            <a:ext cx="219456" cy="411480"/>
          </a:xfrm>
          <a:prstGeom prst="downArrow">
            <a:avLst/>
          </a:prstGeom>
          <a:solidFill>
            <a:srgbClr val="B8B8B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6" name="Pil"/>
          <p:cNvSpPr/>
          <p:nvPr/>
        </p:nvSpPr>
        <p:spPr>
          <a:xfrm>
            <a:off x="8577072" y="2450592"/>
            <a:ext cx="219456" cy="411480"/>
          </a:xfrm>
          <a:prstGeom prst="downArrow">
            <a:avLst/>
          </a:prstGeom>
          <a:solidFill>
            <a:srgbClr val="B8B8B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7" name="Pil"/>
          <p:cNvSpPr/>
          <p:nvPr/>
        </p:nvSpPr>
        <p:spPr>
          <a:xfrm>
            <a:off x="10543032" y="2450592"/>
            <a:ext cx="219456" cy="411480"/>
          </a:xfrm>
          <a:prstGeom prst="downArrow">
            <a:avLst/>
          </a:prstGeom>
          <a:solidFill>
            <a:srgbClr val="B8B8B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8" name="Etikett new"/>
          <p:cNvSpPr txBox="1"/>
          <p:nvPr/>
        </p:nvSpPr>
        <p:spPr>
          <a:xfrm>
            <a:off x="5897880" y="2880360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i="1" dirty="0">
                <a:solidFill>
                  <a:srgbClr val="6B6B6B"/>
                </a:solidFill>
              </a:rPr>
              <a:t>skapar objekt (instanser)</a:t>
            </a:r>
          </a:p>
        </p:txBody>
      </p:sp>
      <p:sp>
        <p:nvSpPr>
          <p:cNvPr id="9" name="Objekt glass1"/>
          <p:cNvSpPr/>
          <p:nvPr/>
        </p:nvSpPr>
        <p:spPr>
          <a:xfrm>
            <a:off x="5897880" y="3246120"/>
            <a:ext cx="1645920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18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0" name="Strut"/>
          <p:cNvSpPr/>
          <p:nvPr/>
        </p:nvSpPr>
        <p:spPr>
          <a:xfrm flipV="1">
            <a:off x="6503670" y="4444898"/>
            <a:ext cx="434340" cy="538582"/>
          </a:xfrm>
          <a:prstGeom prst="triangle">
            <a:avLst/>
          </a:prstGeom>
          <a:solidFill>
            <a:srgbClr val="D9A25F"/>
          </a:solidFill>
          <a:ln w="12700">
            <a:solidFill>
              <a:srgbClr val="B7803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1" name="Kula 1"/>
          <p:cNvSpPr/>
          <p:nvPr/>
        </p:nvSpPr>
        <p:spPr>
          <a:xfrm>
            <a:off x="6521044" y="4157192"/>
            <a:ext cx="399593" cy="399593"/>
          </a:xfrm>
          <a:prstGeom prst="ellipse">
            <a:avLst/>
          </a:prstGeom>
          <a:solidFill>
            <a:srgbClr val="6B3E26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2" name="Kula 2"/>
          <p:cNvSpPr/>
          <p:nvPr/>
        </p:nvSpPr>
        <p:spPr>
          <a:xfrm>
            <a:off x="6521044" y="3909444"/>
            <a:ext cx="399593" cy="399593"/>
          </a:xfrm>
          <a:prstGeom prst="ellipse">
            <a:avLst/>
          </a:prstGeom>
          <a:solidFill>
            <a:srgbClr val="6B3E26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3" name="Text glass1"/>
          <p:cNvSpPr txBox="1"/>
          <p:nvPr/>
        </p:nvSpPr>
        <p:spPr>
          <a:xfrm>
            <a:off x="5989320" y="5074920"/>
            <a:ext cx="14630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b="1" dirty="0">
                <a:solidFill>
                  <a:srgbClr val="2A1A00"/>
                </a:solidFill>
                <a:latin typeface="Courier New"/>
                <a:cs typeface="Courier New"/>
              </a:rPr>
              <a:t>glass1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404040"/>
                </a:solidFill>
              </a:rPr>
              <a:t>Choklad, 2 kulor</a:t>
            </a:r>
          </a:p>
        </p:txBody>
      </p:sp>
      <p:sp>
        <p:nvSpPr>
          <p:cNvPr id="14" name="Objekt glass2"/>
          <p:cNvSpPr/>
          <p:nvPr/>
        </p:nvSpPr>
        <p:spPr>
          <a:xfrm>
            <a:off x="7863840" y="3246120"/>
            <a:ext cx="1645920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18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5" name="Strut"/>
          <p:cNvSpPr/>
          <p:nvPr/>
        </p:nvSpPr>
        <p:spPr>
          <a:xfrm flipV="1">
            <a:off x="8469630" y="4444898"/>
            <a:ext cx="434340" cy="538582"/>
          </a:xfrm>
          <a:prstGeom prst="triangle">
            <a:avLst/>
          </a:prstGeom>
          <a:solidFill>
            <a:srgbClr val="D9A25F"/>
          </a:solidFill>
          <a:ln w="12700">
            <a:solidFill>
              <a:srgbClr val="B7803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6" name="Kula 1"/>
          <p:cNvSpPr/>
          <p:nvPr/>
        </p:nvSpPr>
        <p:spPr>
          <a:xfrm>
            <a:off x="8487004" y="4157192"/>
            <a:ext cx="399593" cy="399593"/>
          </a:xfrm>
          <a:prstGeom prst="ellipse">
            <a:avLst/>
          </a:prstGeom>
          <a:solidFill>
            <a:srgbClr val="F29CB3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7" name="Kula 2"/>
          <p:cNvSpPr/>
          <p:nvPr/>
        </p:nvSpPr>
        <p:spPr>
          <a:xfrm>
            <a:off x="8487004" y="3909444"/>
            <a:ext cx="399593" cy="399593"/>
          </a:xfrm>
          <a:prstGeom prst="ellipse">
            <a:avLst/>
          </a:prstGeom>
          <a:solidFill>
            <a:srgbClr val="F29CB3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8" name="Kula 3"/>
          <p:cNvSpPr/>
          <p:nvPr/>
        </p:nvSpPr>
        <p:spPr>
          <a:xfrm>
            <a:off x="8487004" y="3661697"/>
            <a:ext cx="399593" cy="399593"/>
          </a:xfrm>
          <a:prstGeom prst="ellipse">
            <a:avLst/>
          </a:prstGeom>
          <a:solidFill>
            <a:srgbClr val="F29CB3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9" name="Text glass2"/>
          <p:cNvSpPr txBox="1"/>
          <p:nvPr/>
        </p:nvSpPr>
        <p:spPr>
          <a:xfrm>
            <a:off x="7955280" y="5074920"/>
            <a:ext cx="14630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b="1" dirty="0">
                <a:solidFill>
                  <a:srgbClr val="2A1A00"/>
                </a:solidFill>
                <a:latin typeface="Courier New"/>
                <a:cs typeface="Courier New"/>
              </a:rPr>
              <a:t>glass2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404040"/>
                </a:solidFill>
              </a:rPr>
              <a:t>Jordgubb, 3 kulor</a:t>
            </a:r>
          </a:p>
        </p:txBody>
      </p:sp>
      <p:sp>
        <p:nvSpPr>
          <p:cNvPr id="20" name="Objekt glass3"/>
          <p:cNvSpPr/>
          <p:nvPr/>
        </p:nvSpPr>
        <p:spPr>
          <a:xfrm>
            <a:off x="9829800" y="3246120"/>
            <a:ext cx="1645920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18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21" name="Strut"/>
          <p:cNvSpPr/>
          <p:nvPr/>
        </p:nvSpPr>
        <p:spPr>
          <a:xfrm flipV="1">
            <a:off x="10435590" y="4444898"/>
            <a:ext cx="434340" cy="538582"/>
          </a:xfrm>
          <a:prstGeom prst="triangle">
            <a:avLst/>
          </a:prstGeom>
          <a:solidFill>
            <a:srgbClr val="D9A25F"/>
          </a:solidFill>
          <a:ln w="12700">
            <a:solidFill>
              <a:srgbClr val="B7803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22" name="Kula 1"/>
          <p:cNvSpPr/>
          <p:nvPr/>
        </p:nvSpPr>
        <p:spPr>
          <a:xfrm>
            <a:off x="10452964" y="4157192"/>
            <a:ext cx="399593" cy="399593"/>
          </a:xfrm>
          <a:prstGeom prst="ellipse">
            <a:avLst/>
          </a:prstGeom>
          <a:solidFill>
            <a:srgbClr val="F6E7B8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23" name="Text glass3"/>
          <p:cNvSpPr txBox="1"/>
          <p:nvPr/>
        </p:nvSpPr>
        <p:spPr>
          <a:xfrm>
            <a:off x="9921240" y="5074920"/>
            <a:ext cx="14630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b="1" dirty="0">
                <a:solidFill>
                  <a:srgbClr val="2A1A00"/>
                </a:solidFill>
                <a:latin typeface="Courier New"/>
                <a:cs typeface="Courier New"/>
              </a:rPr>
              <a:t>glass3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404040"/>
                </a:solidFill>
              </a:rPr>
              <a:t>Vanilj, 1 kula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/>
          </a:bodyPr>
          <a:lstStyle/>
          <a:p>
            <a:r>
              <a:rPr lang="sv-SE" sz="3600" dirty="0">
                <a:latin typeface="Bodoni MT" panose="02070603080606020203" pitchFamily="18" charset="0"/>
              </a:rPr>
              <a:t>Skapa en klass – Glass</a:t>
            </a:r>
          </a:p>
        </p:txBody>
      </p:sp>
      <p:sp>
        <p:nvSpPr>
          <p:cNvPr id="3" name="Kod"/>
          <p:cNvSpPr/>
          <p:nvPr/>
        </p:nvSpPr>
        <p:spPr>
          <a:xfrm>
            <a:off x="1207008" y="868680"/>
            <a:ext cx="6172200" cy="411708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18000"/>
              </a:srgbClr>
            </a:outerShdw>
          </a:effectLst>
        </p:spPr>
        <p:txBody>
          <a:bodyPr wrap="square" lIns="274320" tIns="201168" rIns="274320" bIns="201168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A626A4"/>
                </a:solidFill>
                <a:latin typeface="Courier New"/>
                <a:cs typeface="Courier New"/>
              </a:rPr>
              <a:t>class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2E6FDB"/>
                </a:solidFill>
                <a:latin typeface="Courier New"/>
                <a:cs typeface="Courier New"/>
              </a:rPr>
              <a:t>Glass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{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</a:t>
            </a:r>
            <a:r>
              <a:rPr lang="sv-SE" sz="1300" dirty="0">
                <a:solidFill>
                  <a:srgbClr val="A626A4"/>
                </a:solidFill>
                <a:latin typeface="Courier New"/>
                <a:cs typeface="Courier New"/>
              </a:rPr>
              <a:t>constructor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smak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,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kulor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{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  </a:t>
            </a:r>
            <a:r>
              <a:rPr lang="sv-SE" sz="1300" dirty="0">
                <a:solidFill>
                  <a:srgbClr val="A626A4"/>
                </a:solidFill>
                <a:latin typeface="Courier New"/>
                <a:cs typeface="Courier New"/>
              </a:rPr>
              <a:t>this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smak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=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smak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  </a:t>
            </a:r>
            <a:r>
              <a:rPr lang="sv-SE" sz="1300" dirty="0">
                <a:solidFill>
                  <a:srgbClr val="A626A4"/>
                </a:solidFill>
                <a:latin typeface="Courier New"/>
                <a:cs typeface="Courier New"/>
              </a:rPr>
              <a:t>this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kulor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=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kulor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}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</a:t>
            </a:r>
            <a:r>
              <a:rPr lang="sv-SE" sz="1300" dirty="0">
                <a:solidFill>
                  <a:srgbClr val="C0761B"/>
                </a:solidFill>
                <a:latin typeface="Courier New"/>
                <a:cs typeface="Courier New"/>
              </a:rPr>
              <a:t>pris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{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  </a:t>
            </a:r>
            <a:r>
              <a:rPr lang="sv-SE" sz="1300" dirty="0">
                <a:solidFill>
                  <a:srgbClr val="A626A4"/>
                </a:solidFill>
                <a:latin typeface="Courier New"/>
                <a:cs typeface="Courier New"/>
              </a:rPr>
              <a:t>return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A626A4"/>
                </a:solidFill>
                <a:latin typeface="Courier New"/>
                <a:cs typeface="Courier New"/>
              </a:rPr>
              <a:t>this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kulor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*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B26B00"/>
                </a:solidFill>
                <a:latin typeface="Courier New"/>
                <a:cs typeface="Courier New"/>
              </a:rPr>
              <a:t>15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}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</a:t>
            </a:r>
            <a:r>
              <a:rPr lang="sv-SE" sz="1300" dirty="0">
                <a:solidFill>
                  <a:srgbClr val="C0761B"/>
                </a:solidFill>
                <a:latin typeface="Courier New"/>
                <a:cs typeface="Courier New"/>
              </a:rPr>
              <a:t>beskriv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{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  </a:t>
            </a:r>
            <a:r>
              <a:rPr lang="sv-SE" sz="1300" dirty="0">
                <a:solidFill>
                  <a:srgbClr val="A626A4"/>
                </a:solidFill>
                <a:latin typeface="Courier New"/>
                <a:cs typeface="Courier New"/>
              </a:rPr>
              <a:t>const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text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=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300" dirty="0">
                <a:solidFill>
                  <a:srgbClr val="3F9A3E"/>
                </a:solidFill>
                <a:latin typeface="Courier New"/>
                <a:cs typeface="Courier New"/>
              </a:rPr>
              <a:t>`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${this.smak}</a:t>
            </a:r>
            <a:r>
              <a:rPr lang="sv-SE" sz="1300" dirty="0">
                <a:solidFill>
                  <a:srgbClr val="3F9A3E"/>
                </a:solidFill>
                <a:latin typeface="Courier New"/>
                <a:cs typeface="Courier New"/>
              </a:rPr>
              <a:t xml:space="preserve">: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${this.kulor}</a:t>
            </a:r>
            <a:r>
              <a:rPr lang="sv-SE" sz="1300" dirty="0">
                <a:solidFill>
                  <a:srgbClr val="3F9A3E"/>
                </a:solidFill>
                <a:latin typeface="Courier New"/>
                <a:cs typeface="Courier New"/>
              </a:rPr>
              <a:t xml:space="preserve"> kulor`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 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console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300" dirty="0">
                <a:solidFill>
                  <a:srgbClr val="C0761B"/>
                </a:solidFill>
                <a:latin typeface="Courier New"/>
                <a:cs typeface="Courier New"/>
              </a:rPr>
              <a:t>log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300" dirty="0">
                <a:solidFill>
                  <a:srgbClr val="3F9A3E"/>
                </a:solidFill>
                <a:latin typeface="Courier New"/>
                <a:cs typeface="Courier New"/>
              </a:rPr>
              <a:t>`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${text}</a:t>
            </a:r>
            <a:r>
              <a:rPr lang="sv-SE" sz="1300" dirty="0">
                <a:solidFill>
                  <a:srgbClr val="3F9A3E"/>
                </a:solidFill>
                <a:latin typeface="Courier New"/>
                <a:cs typeface="Courier New"/>
              </a:rPr>
              <a:t xml:space="preserve">,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${this.pris()}</a:t>
            </a:r>
            <a:r>
              <a:rPr lang="sv-SE" sz="1300" dirty="0">
                <a:solidFill>
                  <a:srgbClr val="3F9A3E"/>
                </a:solidFill>
                <a:latin typeface="Courier New"/>
                <a:cs typeface="Courier New"/>
              </a:rPr>
              <a:t xml:space="preserve"> kr`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</a:t>
            </a: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}</a:t>
            </a:r>
            <a:endParaRPr lang="sv-SE" sz="1300" dirty="0"/>
          </a:p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dirty="0">
                <a:solidFill>
                  <a:srgbClr val="383A42"/>
                </a:solidFill>
                <a:latin typeface="Courier New"/>
                <a:cs typeface="Courier New"/>
              </a:rPr>
              <a:t>}</a:t>
            </a:r>
            <a:endParaRPr lang="sv-SE" sz="1300" dirty="0"/>
          </a:p>
        </p:txBody>
      </p:sp>
      <p:sp>
        <p:nvSpPr>
          <p:cNvPr id="4" name="Markering 1"/>
          <p:cNvSpPr/>
          <p:nvPr/>
        </p:nvSpPr>
        <p:spPr>
          <a:xfrm>
            <a:off x="2951988" y="1065657"/>
            <a:ext cx="256032" cy="256032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1</a:t>
            </a:r>
          </a:p>
        </p:txBody>
      </p:sp>
      <p:sp>
        <p:nvSpPr>
          <p:cNvPr id="5" name="Markering 2"/>
          <p:cNvSpPr/>
          <p:nvPr/>
        </p:nvSpPr>
        <p:spPr>
          <a:xfrm>
            <a:off x="4437888" y="1313307"/>
            <a:ext cx="256032" cy="256032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2</a:t>
            </a:r>
          </a:p>
        </p:txBody>
      </p:sp>
      <p:sp>
        <p:nvSpPr>
          <p:cNvPr id="6" name="Markering 3"/>
          <p:cNvSpPr/>
          <p:nvPr/>
        </p:nvSpPr>
        <p:spPr>
          <a:xfrm>
            <a:off x="3942588" y="1808607"/>
            <a:ext cx="256032" cy="256032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3</a:t>
            </a:r>
          </a:p>
        </p:txBody>
      </p:sp>
      <p:sp>
        <p:nvSpPr>
          <p:cNvPr id="7" name="Markering 4"/>
          <p:cNvSpPr/>
          <p:nvPr/>
        </p:nvSpPr>
        <p:spPr>
          <a:xfrm>
            <a:off x="2654808" y="2551557"/>
            <a:ext cx="256032" cy="256032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4</a:t>
            </a:r>
          </a:p>
        </p:txBody>
      </p:sp>
      <p:sp>
        <p:nvSpPr>
          <p:cNvPr id="8" name="Markering 1"/>
          <p:cNvSpPr/>
          <p:nvPr/>
        </p:nvSpPr>
        <p:spPr>
          <a:xfrm>
            <a:off x="7680960" y="996696"/>
            <a:ext cx="292608" cy="292608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1</a:t>
            </a:r>
          </a:p>
        </p:txBody>
      </p:sp>
      <p:sp>
        <p:nvSpPr>
          <p:cNvPr id="9" name="Förklaring 1"/>
          <p:cNvSpPr txBox="1"/>
          <p:nvPr/>
        </p:nvSpPr>
        <p:spPr>
          <a:xfrm>
            <a:off x="8138160" y="960120"/>
            <a:ext cx="3611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b="1" dirty="0">
                <a:solidFill>
                  <a:srgbClr val="2A1A00"/>
                </a:solidFill>
                <a:latin typeface="Courier New"/>
                <a:cs typeface="Courier New"/>
              </a:rPr>
              <a:t>class Glass</a:t>
            </a:r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sv-SE" sz="1500" dirty="0">
                <a:solidFill>
                  <a:srgbClr val="404040"/>
                </a:solidFill>
              </a:rPr>
              <a:t>Klassens namn skrivs med stor bokstav.</a:t>
            </a:r>
          </a:p>
        </p:txBody>
      </p:sp>
      <p:sp>
        <p:nvSpPr>
          <p:cNvPr id="10" name="Markering 2"/>
          <p:cNvSpPr/>
          <p:nvPr/>
        </p:nvSpPr>
        <p:spPr>
          <a:xfrm>
            <a:off x="7680960" y="2112264"/>
            <a:ext cx="292608" cy="292608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2</a:t>
            </a:r>
          </a:p>
        </p:txBody>
      </p:sp>
      <p:sp>
        <p:nvSpPr>
          <p:cNvPr id="11" name="Förklaring 2"/>
          <p:cNvSpPr txBox="1"/>
          <p:nvPr/>
        </p:nvSpPr>
        <p:spPr>
          <a:xfrm>
            <a:off x="8138160" y="2075688"/>
            <a:ext cx="3611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b="1" dirty="0">
                <a:solidFill>
                  <a:srgbClr val="2A1A00"/>
                </a:solidFill>
                <a:latin typeface="Courier New"/>
                <a:cs typeface="Courier New"/>
              </a:rPr>
              <a:t>constructor</a:t>
            </a:r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sv-SE" sz="1500" dirty="0">
                <a:solidFill>
                  <a:srgbClr val="404040"/>
                </a:solidFill>
              </a:rPr>
              <a:t>Körs automatiskt när vi skriver new Glass(...) och sätter startvärdena.</a:t>
            </a:r>
          </a:p>
        </p:txBody>
      </p:sp>
      <p:sp>
        <p:nvSpPr>
          <p:cNvPr id="12" name="Markering 3"/>
          <p:cNvSpPr/>
          <p:nvPr/>
        </p:nvSpPr>
        <p:spPr>
          <a:xfrm>
            <a:off x="7680960" y="3227832"/>
            <a:ext cx="292608" cy="292608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3</a:t>
            </a:r>
          </a:p>
        </p:txBody>
      </p:sp>
      <p:sp>
        <p:nvSpPr>
          <p:cNvPr id="13" name="Förklaring 3"/>
          <p:cNvSpPr txBox="1"/>
          <p:nvPr/>
        </p:nvSpPr>
        <p:spPr>
          <a:xfrm>
            <a:off x="8138160" y="3191256"/>
            <a:ext cx="3611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b="1" dirty="0">
                <a:solidFill>
                  <a:srgbClr val="2A1A00"/>
                </a:solidFill>
                <a:latin typeface="Courier New"/>
                <a:cs typeface="Courier New"/>
              </a:rPr>
              <a:t>this</a:t>
            </a:r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sv-SE" sz="1500" dirty="0">
                <a:solidFill>
                  <a:srgbClr val="404040"/>
                </a:solidFill>
              </a:rPr>
              <a:t>Betyder ”just den här glassen”. this.smak är egenskapen smak på objektet.</a:t>
            </a:r>
          </a:p>
        </p:txBody>
      </p:sp>
      <p:sp>
        <p:nvSpPr>
          <p:cNvPr id="14" name="Markering 4"/>
          <p:cNvSpPr/>
          <p:nvPr/>
        </p:nvSpPr>
        <p:spPr>
          <a:xfrm>
            <a:off x="7680960" y="4343400"/>
            <a:ext cx="292608" cy="292608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4</a:t>
            </a:r>
          </a:p>
        </p:txBody>
      </p:sp>
      <p:sp>
        <p:nvSpPr>
          <p:cNvPr id="15" name="Förklaring 4"/>
          <p:cNvSpPr txBox="1"/>
          <p:nvPr/>
        </p:nvSpPr>
        <p:spPr>
          <a:xfrm>
            <a:off x="8138160" y="4306824"/>
            <a:ext cx="3611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b="1" dirty="0">
                <a:solidFill>
                  <a:srgbClr val="2A1A00"/>
                </a:solidFill>
              </a:rPr>
              <a:t>Metoder</a:t>
            </a:r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sv-SE" sz="1500" dirty="0">
                <a:solidFill>
                  <a:srgbClr val="404040"/>
                </a:solidFill>
              </a:rPr>
              <a:t>Funktioner som hör till klassen. De skrivs utan ordet function.</a:t>
            </a:r>
          </a:p>
        </p:txBody>
      </p:sp>
      <p:sp>
        <p:nvSpPr>
          <p:cNvPr id="16" name="Tips"/>
          <p:cNvSpPr/>
          <p:nvPr/>
        </p:nvSpPr>
        <p:spPr>
          <a:xfrm>
            <a:off x="7680960" y="5513832"/>
            <a:ext cx="4069080" cy="822960"/>
          </a:xfrm>
          <a:prstGeom prst="roundRect">
            <a:avLst>
              <a:gd name="adj" fmla="val 12000"/>
            </a:avLst>
          </a:prstGeom>
          <a:solidFill>
            <a:srgbClr val="FBE7B8"/>
          </a:solidFill>
          <a:ln>
            <a:noFill/>
          </a:ln>
        </p:spPr>
        <p:txBody>
          <a:bodyPr wrap="square" lIns="182880" tIns="73152" rIns="182880" bIns="73152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300" b="1" dirty="0">
                <a:solidFill>
                  <a:srgbClr val="2A1A00"/>
                </a:solidFill>
              </a:rPr>
              <a:t xml:space="preserve">Tips: </a:t>
            </a:r>
            <a:r>
              <a:rPr lang="sv-SE" sz="1300" dirty="0">
                <a:solidFill>
                  <a:srgbClr val="2A1A00"/>
                </a:solidFill>
              </a:rPr>
              <a:t>Glöm inte new när du skapar ett objekt.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3434" y="83247"/>
            <a:ext cx="10893973" cy="596023"/>
          </a:xfrm>
        </p:spPr>
        <p:txBody>
          <a:bodyPr>
            <a:normAutofit/>
          </a:bodyPr>
          <a:lstStyle/>
          <a:p>
            <a:r>
              <a:rPr lang="sv-SE" sz="3600" dirty="0">
                <a:latin typeface="Bodoni MT" panose="02070603080606020203" pitchFamily="18" charset="0"/>
              </a:rPr>
              <a:t>Skapa instanser (objekt) av Glass</a:t>
            </a:r>
          </a:p>
        </p:txBody>
      </p:sp>
      <p:sp>
        <p:nvSpPr>
          <p:cNvPr id="3" name="Kod"/>
          <p:cNvSpPr/>
          <p:nvPr/>
        </p:nvSpPr>
        <p:spPr>
          <a:xfrm>
            <a:off x="1207008" y="868680"/>
            <a:ext cx="6172200" cy="3196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18000"/>
              </a:srgbClr>
            </a:outerShdw>
          </a:effectLst>
        </p:spPr>
        <p:txBody>
          <a:bodyPr wrap="square" lIns="274320" tIns="201168" rIns="274320" bIns="201168" anchor="t" rtlCol="0">
            <a:noAutofit/>
          </a:bodyPr>
          <a:lstStyle/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A626A4"/>
                </a:solidFill>
                <a:latin typeface="Courier New"/>
                <a:cs typeface="Courier New"/>
              </a:rPr>
              <a:t>const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glass1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=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A626A4"/>
                </a:solidFill>
                <a:latin typeface="Courier New"/>
                <a:cs typeface="Courier New"/>
              </a:rPr>
              <a:t>new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2E6FDB"/>
                </a:solidFill>
                <a:latin typeface="Courier New"/>
                <a:cs typeface="Courier New"/>
              </a:rPr>
              <a:t>Glass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400" dirty="0">
                <a:solidFill>
                  <a:srgbClr val="3F9A3E"/>
                </a:solidFill>
                <a:latin typeface="Courier New"/>
                <a:cs typeface="Courier New"/>
              </a:rPr>
              <a:t>"Choklad"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,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B26B00"/>
                </a:solidFill>
                <a:latin typeface="Courier New"/>
                <a:cs typeface="Courier New"/>
              </a:rPr>
              <a:t>2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A626A4"/>
                </a:solidFill>
                <a:latin typeface="Courier New"/>
                <a:cs typeface="Courier New"/>
              </a:rPr>
              <a:t>const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glass2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=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A626A4"/>
                </a:solidFill>
                <a:latin typeface="Courier New"/>
                <a:cs typeface="Courier New"/>
              </a:rPr>
              <a:t>new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2E6FDB"/>
                </a:solidFill>
                <a:latin typeface="Courier New"/>
                <a:cs typeface="Courier New"/>
              </a:rPr>
              <a:t>Glass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400" dirty="0">
                <a:solidFill>
                  <a:srgbClr val="3F9A3E"/>
                </a:solidFill>
                <a:latin typeface="Courier New"/>
                <a:cs typeface="Courier New"/>
              </a:rPr>
              <a:t>"Jordgubb"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,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B26B00"/>
                </a:solidFill>
                <a:latin typeface="Courier New"/>
                <a:cs typeface="Courier New"/>
              </a:rPr>
              <a:t>3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A626A4"/>
                </a:solidFill>
                <a:latin typeface="Courier New"/>
                <a:cs typeface="Courier New"/>
              </a:rPr>
              <a:t>const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glass3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=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A626A4"/>
                </a:solidFill>
                <a:latin typeface="Courier New"/>
                <a:cs typeface="Courier New"/>
              </a:rPr>
              <a:t>new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2E6FDB"/>
                </a:solidFill>
                <a:latin typeface="Courier New"/>
                <a:cs typeface="Courier New"/>
              </a:rPr>
              <a:t>Glass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400" dirty="0">
                <a:solidFill>
                  <a:srgbClr val="3F9A3E"/>
                </a:solidFill>
                <a:latin typeface="Courier New"/>
                <a:cs typeface="Courier New"/>
              </a:rPr>
              <a:t>"Vanilj"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,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B26B00"/>
                </a:solidFill>
                <a:latin typeface="Courier New"/>
                <a:cs typeface="Courier New"/>
              </a:rPr>
              <a:t>1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glass1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400" dirty="0">
                <a:solidFill>
                  <a:srgbClr val="C0761B"/>
                </a:solidFill>
                <a:latin typeface="Courier New"/>
                <a:cs typeface="Courier New"/>
              </a:rPr>
              <a:t>beskriv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glass2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400" dirty="0">
                <a:solidFill>
                  <a:srgbClr val="C0761B"/>
                </a:solidFill>
                <a:latin typeface="Courier New"/>
                <a:cs typeface="Courier New"/>
              </a:rPr>
              <a:t>beskriv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glass3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kulor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=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</a:t>
            </a:r>
            <a:r>
              <a:rPr lang="sv-SE" sz="1400" dirty="0">
                <a:solidFill>
                  <a:srgbClr val="B26B00"/>
                </a:solidFill>
                <a:latin typeface="Courier New"/>
                <a:cs typeface="Courier New"/>
              </a:rPr>
              <a:t>2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 xml:space="preserve">   </a:t>
            </a:r>
            <a:r>
              <a:rPr lang="sv-SE" sz="1400" i="1" dirty="0">
                <a:solidFill>
                  <a:srgbClr val="8A8F98"/>
                </a:solidFill>
                <a:latin typeface="Courier New"/>
                <a:cs typeface="Courier New"/>
              </a:rPr>
              <a:t>// ändra en egenskap</a:t>
            </a: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glass3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400" dirty="0">
                <a:solidFill>
                  <a:srgbClr val="C0761B"/>
                </a:solidFill>
                <a:latin typeface="Courier New"/>
                <a:cs typeface="Courier New"/>
              </a:rPr>
              <a:t>beskriv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sv-SE" sz="1400" dirty="0"/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console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400" dirty="0">
                <a:solidFill>
                  <a:srgbClr val="C0761B"/>
                </a:solidFill>
                <a:latin typeface="Courier New"/>
                <a:cs typeface="Courier New"/>
              </a:rPr>
              <a:t>log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(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glass1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.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smak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)</a:t>
            </a:r>
            <a:r>
              <a:rPr lang="sv-SE" sz="1400" dirty="0">
                <a:solidFill>
                  <a:srgbClr val="383A42"/>
                </a:solidFill>
                <a:latin typeface="Courier New"/>
                <a:cs typeface="Courier New"/>
              </a:rPr>
              <a:t>;</a:t>
            </a:r>
            <a:endParaRPr lang="sv-SE" sz="1400" dirty="0"/>
          </a:p>
        </p:txBody>
      </p:sp>
      <p:sp>
        <p:nvSpPr>
          <p:cNvPr id="4" name="Utskrift"/>
          <p:cNvSpPr/>
          <p:nvPr/>
        </p:nvSpPr>
        <p:spPr>
          <a:xfrm>
            <a:off x="1207008" y="4339336"/>
            <a:ext cx="6172200" cy="1765808"/>
          </a:xfrm>
          <a:prstGeom prst="roundRect">
            <a:avLst>
              <a:gd name="adj" fmla="val 5000"/>
            </a:avLst>
          </a:prstGeom>
          <a:solidFill>
            <a:srgbClr val="2A1A00"/>
          </a:solidFill>
          <a:ln>
            <a:noFill/>
          </a:ln>
        </p:spPr>
        <p:txBody>
          <a:bodyPr wrap="square" lIns="274320" tIns="182880" rIns="274320" bIns="18288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sv-SE" sz="1100" b="1" dirty="0">
                <a:solidFill>
                  <a:srgbClr val="F8B323"/>
                </a:solidFill>
              </a:rPr>
              <a:t>Utskrift i konsolen</a:t>
            </a:r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F3F3F2"/>
                </a:solidFill>
                <a:latin typeface="Courier New"/>
                <a:cs typeface="Courier New"/>
              </a:rPr>
              <a:t>Choklad: 2 kulor, 30 kr</a:t>
            </a:r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F3F3F2"/>
                </a:solidFill>
                <a:latin typeface="Courier New"/>
                <a:cs typeface="Courier New"/>
              </a:rPr>
              <a:t>Jordgubb: 3 kulor, 45 kr</a:t>
            </a:r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F3F3F2"/>
                </a:solidFill>
                <a:latin typeface="Courier New"/>
                <a:cs typeface="Courier New"/>
              </a:rPr>
              <a:t>Vanilj: 2 kulor, 30 kr</a:t>
            </a:r>
          </a:p>
          <a:p>
            <a:pPr marL="0" indent="0"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400" dirty="0">
                <a:solidFill>
                  <a:srgbClr val="F3F3F2"/>
                </a:solidFill>
                <a:latin typeface="Courier New"/>
                <a:cs typeface="Courier New"/>
              </a:rPr>
              <a:t>Choklad</a:t>
            </a:r>
          </a:p>
        </p:txBody>
      </p:sp>
      <p:sp>
        <p:nvSpPr>
          <p:cNvPr id="5" name="Markering 1"/>
          <p:cNvSpPr/>
          <p:nvPr/>
        </p:nvSpPr>
        <p:spPr>
          <a:xfrm>
            <a:off x="7680960" y="996696"/>
            <a:ext cx="292608" cy="292608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1</a:t>
            </a:r>
          </a:p>
        </p:txBody>
      </p:sp>
      <p:sp>
        <p:nvSpPr>
          <p:cNvPr id="6" name="Punkt 1"/>
          <p:cNvSpPr txBox="1"/>
          <p:nvPr/>
        </p:nvSpPr>
        <p:spPr>
          <a:xfrm>
            <a:off x="8138160" y="960120"/>
            <a:ext cx="361188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b="1" dirty="0">
                <a:solidFill>
                  <a:srgbClr val="2A1A00"/>
                </a:solidFill>
              </a:rPr>
              <a:t>new</a:t>
            </a:r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sv-SE" sz="1500" dirty="0">
                <a:solidFill>
                  <a:srgbClr val="404040"/>
                </a:solidFill>
              </a:rPr>
              <a:t>new Glass("Choklad", 2) skapar en ny instans och kör constructor.</a:t>
            </a:r>
          </a:p>
        </p:txBody>
      </p:sp>
      <p:sp>
        <p:nvSpPr>
          <p:cNvPr id="7" name="Markering 2"/>
          <p:cNvSpPr/>
          <p:nvPr/>
        </p:nvSpPr>
        <p:spPr>
          <a:xfrm>
            <a:off x="7680960" y="2322576"/>
            <a:ext cx="292608" cy="292608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2</a:t>
            </a:r>
          </a:p>
        </p:txBody>
      </p:sp>
      <p:sp>
        <p:nvSpPr>
          <p:cNvPr id="8" name="Punkt 2"/>
          <p:cNvSpPr txBox="1"/>
          <p:nvPr/>
        </p:nvSpPr>
        <p:spPr>
          <a:xfrm>
            <a:off x="8138160" y="2286000"/>
            <a:ext cx="361188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b="1" dirty="0">
                <a:solidFill>
                  <a:srgbClr val="2A1A00"/>
                </a:solidFill>
              </a:rPr>
              <a:t>Punktnotation</a:t>
            </a:r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sv-SE" sz="1500" dirty="0">
                <a:solidFill>
                  <a:srgbClr val="404040"/>
                </a:solidFill>
              </a:rPr>
              <a:t>glass1.beskriv() anropar en metod och glass3.kulor läser eller ändrar en egenskap.</a:t>
            </a:r>
          </a:p>
        </p:txBody>
      </p:sp>
      <p:sp>
        <p:nvSpPr>
          <p:cNvPr id="9" name="Markering 3"/>
          <p:cNvSpPr/>
          <p:nvPr/>
        </p:nvSpPr>
        <p:spPr>
          <a:xfrm>
            <a:off x="7680960" y="3648456"/>
            <a:ext cx="292608" cy="292608"/>
          </a:xfrm>
          <a:prstGeom prst="ellipse">
            <a:avLst/>
          </a:prstGeom>
          <a:solidFill>
            <a:srgbClr val="F8B32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200" b="1" dirty="0">
                <a:solidFill>
                  <a:srgbClr val="2A1A00"/>
                </a:solidFill>
              </a:rPr>
              <a:t>3</a:t>
            </a:r>
          </a:p>
        </p:txBody>
      </p:sp>
      <p:sp>
        <p:nvSpPr>
          <p:cNvPr id="10" name="Punkt 3"/>
          <p:cNvSpPr txBox="1"/>
          <p:nvPr/>
        </p:nvSpPr>
        <p:spPr>
          <a:xfrm>
            <a:off x="8138160" y="3611880"/>
            <a:ext cx="361188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600" b="1" dirty="0">
                <a:solidFill>
                  <a:srgbClr val="2A1A00"/>
                </a:solidFill>
              </a:rPr>
              <a:t>Egna värden</a:t>
            </a:r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sv-SE" sz="1500" dirty="0">
                <a:solidFill>
                  <a:srgbClr val="404040"/>
                </a:solidFill>
              </a:rPr>
              <a:t>Varje objekt har sina egna värden. När vi ändrar glass3 påverkas inte glass1.</a:t>
            </a:r>
          </a:p>
        </p:txBody>
      </p:sp>
      <p:sp>
        <p:nvSpPr>
          <p:cNvPr id="11" name="Strut"/>
          <p:cNvSpPr/>
          <p:nvPr/>
        </p:nvSpPr>
        <p:spPr>
          <a:xfrm flipV="1">
            <a:off x="8241030" y="5564124"/>
            <a:ext cx="342900" cy="425196"/>
          </a:xfrm>
          <a:prstGeom prst="triangle">
            <a:avLst/>
          </a:prstGeom>
          <a:solidFill>
            <a:srgbClr val="D9A25F"/>
          </a:solidFill>
          <a:ln w="12700">
            <a:solidFill>
              <a:srgbClr val="B7803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2" name="Kula 1"/>
          <p:cNvSpPr/>
          <p:nvPr/>
        </p:nvSpPr>
        <p:spPr>
          <a:xfrm>
            <a:off x="8254746" y="5336987"/>
            <a:ext cx="315468" cy="315468"/>
          </a:xfrm>
          <a:prstGeom prst="ellipse">
            <a:avLst/>
          </a:prstGeom>
          <a:solidFill>
            <a:srgbClr val="6B3E26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3" name="Kula 2"/>
          <p:cNvSpPr/>
          <p:nvPr/>
        </p:nvSpPr>
        <p:spPr>
          <a:xfrm>
            <a:off x="8254746" y="5141397"/>
            <a:ext cx="315468" cy="315468"/>
          </a:xfrm>
          <a:prstGeom prst="ellipse">
            <a:avLst/>
          </a:prstGeom>
          <a:solidFill>
            <a:srgbClr val="6B3E26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4" name="Etikett glass1"/>
          <p:cNvSpPr txBox="1"/>
          <p:nvPr/>
        </p:nvSpPr>
        <p:spPr>
          <a:xfrm>
            <a:off x="7818120" y="603504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100" dirty="0">
                <a:solidFill>
                  <a:srgbClr val="6B6B6B"/>
                </a:solidFill>
                <a:latin typeface="Courier New"/>
                <a:cs typeface="Courier New"/>
              </a:rPr>
              <a:t>glass1</a:t>
            </a:r>
          </a:p>
        </p:txBody>
      </p:sp>
      <p:sp>
        <p:nvSpPr>
          <p:cNvPr id="15" name="Strut"/>
          <p:cNvSpPr/>
          <p:nvPr/>
        </p:nvSpPr>
        <p:spPr>
          <a:xfrm flipV="1">
            <a:off x="9521190" y="5564124"/>
            <a:ext cx="342900" cy="425196"/>
          </a:xfrm>
          <a:prstGeom prst="triangle">
            <a:avLst/>
          </a:prstGeom>
          <a:solidFill>
            <a:srgbClr val="D9A25F"/>
          </a:solidFill>
          <a:ln w="12700">
            <a:solidFill>
              <a:srgbClr val="B7803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6" name="Kula 1"/>
          <p:cNvSpPr/>
          <p:nvPr/>
        </p:nvSpPr>
        <p:spPr>
          <a:xfrm>
            <a:off x="9534906" y="5336987"/>
            <a:ext cx="315468" cy="315468"/>
          </a:xfrm>
          <a:prstGeom prst="ellipse">
            <a:avLst/>
          </a:prstGeom>
          <a:solidFill>
            <a:srgbClr val="F29CB3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7" name="Kula 2"/>
          <p:cNvSpPr/>
          <p:nvPr/>
        </p:nvSpPr>
        <p:spPr>
          <a:xfrm>
            <a:off x="9534906" y="5141397"/>
            <a:ext cx="315468" cy="315468"/>
          </a:xfrm>
          <a:prstGeom prst="ellipse">
            <a:avLst/>
          </a:prstGeom>
          <a:solidFill>
            <a:srgbClr val="F29CB3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8" name="Kula 3"/>
          <p:cNvSpPr/>
          <p:nvPr/>
        </p:nvSpPr>
        <p:spPr>
          <a:xfrm>
            <a:off x="9534906" y="4945807"/>
            <a:ext cx="315468" cy="315468"/>
          </a:xfrm>
          <a:prstGeom prst="ellipse">
            <a:avLst/>
          </a:prstGeom>
          <a:solidFill>
            <a:srgbClr val="F29CB3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19" name="Etikett glass2"/>
          <p:cNvSpPr txBox="1"/>
          <p:nvPr/>
        </p:nvSpPr>
        <p:spPr>
          <a:xfrm>
            <a:off x="9098280" y="603504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100" dirty="0">
                <a:solidFill>
                  <a:srgbClr val="6B6B6B"/>
                </a:solidFill>
                <a:latin typeface="Courier New"/>
                <a:cs typeface="Courier New"/>
              </a:rPr>
              <a:t>glass2</a:t>
            </a:r>
          </a:p>
        </p:txBody>
      </p:sp>
      <p:sp>
        <p:nvSpPr>
          <p:cNvPr id="20" name="Strut"/>
          <p:cNvSpPr/>
          <p:nvPr/>
        </p:nvSpPr>
        <p:spPr>
          <a:xfrm flipV="1">
            <a:off x="10801350" y="5564124"/>
            <a:ext cx="342900" cy="425196"/>
          </a:xfrm>
          <a:prstGeom prst="triangle">
            <a:avLst/>
          </a:prstGeom>
          <a:solidFill>
            <a:srgbClr val="D9A25F"/>
          </a:solidFill>
          <a:ln w="12700">
            <a:solidFill>
              <a:srgbClr val="B7803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21" name="Kula 1"/>
          <p:cNvSpPr/>
          <p:nvPr/>
        </p:nvSpPr>
        <p:spPr>
          <a:xfrm>
            <a:off x="10815066" y="5336987"/>
            <a:ext cx="315468" cy="315468"/>
          </a:xfrm>
          <a:prstGeom prst="ellipse">
            <a:avLst/>
          </a:prstGeom>
          <a:solidFill>
            <a:srgbClr val="F6E7B8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22" name="Kula 2"/>
          <p:cNvSpPr/>
          <p:nvPr/>
        </p:nvSpPr>
        <p:spPr>
          <a:xfrm>
            <a:off x="10815066" y="5141397"/>
            <a:ext cx="315468" cy="315468"/>
          </a:xfrm>
          <a:prstGeom prst="ellipse">
            <a:avLst/>
          </a:prstGeom>
          <a:solidFill>
            <a:srgbClr val="F6E7B8"/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sv-SE" dirty="0"/>
          </a:p>
        </p:txBody>
      </p:sp>
      <p:sp>
        <p:nvSpPr>
          <p:cNvPr id="23" name="Etikett glass3"/>
          <p:cNvSpPr txBox="1"/>
          <p:nvPr/>
        </p:nvSpPr>
        <p:spPr>
          <a:xfrm>
            <a:off x="10378440" y="603504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100" dirty="0">
                <a:solidFill>
                  <a:srgbClr val="6B6B6B"/>
                </a:solidFill>
                <a:latin typeface="Courier New"/>
                <a:cs typeface="Courier New"/>
              </a:rPr>
              <a:t>glass3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55916208_Getting to know your teacher_RVA_v2" id="{9D60EAE5-D0A0-4E9F-AE23-1B333D14ABD6}" vid="{DD8DD7D2-976B-4092-A04B-0CF2FAEFF7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0FF52724AC48D47B010AA362D489A4D" ma:contentTypeVersion="0" ma:contentTypeDescription="Skapa ett nytt dokument." ma:contentTypeScope="" ma:versionID="fbd70824283940ea0b15ba881b9ff887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4a658d11712873d45d049e4e4d5765df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60489F5-0CD1-4209-9233-965B9732F0E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52D0167F-E486-4F9B-83E2-993954E11F0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DB3E54F-9BB9-4821-81E3-A4EFEC7BD0AD}">
  <ds:schemaRefs>
    <ds:schemaRef ds:uri="http://purl.org/dc/elements/1.1/"/>
    <ds:schemaRef ds:uri="http://purl.org/dc/dcmitype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2060</Words>
  <Application>Microsoft Office PowerPoint</Application>
  <PresentationFormat>Widescreen</PresentationFormat>
  <Paragraphs>307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Bodoni MT</vt:lpstr>
      <vt:lpstr>Calibri</vt:lpstr>
      <vt:lpstr>Gill Sans MT</vt:lpstr>
      <vt:lpstr>Impact</vt:lpstr>
      <vt:lpstr>Times New Roman</vt:lpstr>
      <vt:lpstr>Badge</vt:lpstr>
      <vt:lpstr>JavaScript</vt:lpstr>
      <vt:lpstr>Innehåll</vt:lpstr>
      <vt:lpstr>Variabler</vt:lpstr>
      <vt:lpstr>Variabler forts.</vt:lpstr>
      <vt:lpstr>Datatyper</vt:lpstr>
      <vt:lpstr>Operatorer</vt:lpstr>
      <vt:lpstr>JAmförelser</vt:lpstr>
      <vt:lpstr>If-satser</vt:lpstr>
      <vt:lpstr>If-satser Forts.</vt:lpstr>
      <vt:lpstr>Loopar: while</vt:lpstr>
      <vt:lpstr>Loopar: For</vt:lpstr>
      <vt:lpstr>Switch-satsen</vt:lpstr>
      <vt:lpstr>Funktioner</vt:lpstr>
      <vt:lpstr>Funktioner FORTS.</vt:lpstr>
      <vt:lpstr>Funktioner FORTS.</vt:lpstr>
      <vt:lpstr>Arrow functions (pil-funktioner)</vt:lpstr>
      <vt:lpstr>Object</vt:lpstr>
      <vt:lpstr>Array (Listor)</vt:lpstr>
      <vt:lpstr>Metoder på Arrays (Listor)</vt:lpstr>
      <vt:lpstr>Metoder på Arrays (Listor)</vt:lpstr>
      <vt:lpstr>Slide Tite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2020-08-14T09:34:52Z</dcterms:created>
  <dcterms:modified xsi:type="dcterms:W3CDTF">2025-08-28T09:28:20Z</dcterms:modified>
</cp:coreProperties>
</file>